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12801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9C1D55"/>
                </a:solidFill>
                <a:latin typeface="Calibri"/>
              </a:rPr>
              <a:t>CardioCog: An Explainable AI Framework for Cognitive Health Assessment and Early Prediction of Cognitive Decline Using Cardiovascular, Genetic, and Clinical Factors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48840"/>
            <a:ext cx="10362895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FINAL REVIEW – B.TECH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97480"/>
            <a:ext cx="10362895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Team No.: D07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0" y="3200400"/>
            <a:ext cx="3566160" cy="16459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000000"/>
                </a:solidFill>
                <a:latin typeface="Calibri"/>
              </a:rPr>
              <a:t>Akula Akhil Vighnesh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000000"/>
                </a:solidFill>
                <a:latin typeface="Calibri"/>
              </a:rPr>
              <a:t>Vada Gouri Hansika Reddy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000000"/>
                </a:solidFill>
                <a:latin typeface="Calibri"/>
              </a:rPr>
              <a:t>Pilli Venkata Bhargav Reddy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000000"/>
                </a:solidFill>
                <a:latin typeface="Calibri"/>
              </a:rPr>
              <a:t>Marella Venkata Mahidhar Reddy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3200400"/>
            <a:ext cx="2560320" cy="16459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000000"/>
                </a:solidFill>
                <a:latin typeface="Calibri"/>
              </a:rPr>
              <a:t>CB.SC.U4AIE23303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000000"/>
                </a:solidFill>
                <a:latin typeface="Calibri"/>
              </a:rPr>
              <a:t>CB.SC.U4AIE23304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000000"/>
                </a:solidFill>
                <a:latin typeface="Calibri"/>
              </a:rPr>
              <a:t>CB.SC.U4AIE23329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000000"/>
                </a:solidFill>
                <a:latin typeface="Calibri"/>
              </a:rPr>
              <a:t>CB.SC.U4AIE23354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800600"/>
            <a:ext cx="10362895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Supervisor: Dr. Manoj Bhat K, Professor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440680"/>
            <a:ext cx="10362895" cy="7315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0">
                <a:solidFill>
                  <a:srgbClr val="000000"/>
                </a:solidFill>
                <a:latin typeface="Calibri"/>
              </a:rPr>
              <a:t>AMRITA VISHWA VIDYAPEETHAM – SCHOOL OF ARTIFICIAL INTELLIGENCE, COIMBATORE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0"/>
            <a:ext cx="11551615" cy="7315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FFFFFF"/>
                </a:solidFill>
                <a:latin typeface="Calibri"/>
              </a:rPr>
              <a:t>01 | Research Progress: From Proposal to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46520"/>
            <a:ext cx="109728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1 / 27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11247120" cy="384048"/>
          </a:xfrm>
          <a:prstGeom prst="rect">
            <a:avLst/>
          </a:prstGeom>
          <a:solidFill>
            <a:srgbClr val="0E72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1247120" cy="38404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Research progression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44168"/>
            <a:ext cx="11247120" cy="850392"/>
          </a:xfrm>
          <a:prstGeom prst="rect">
            <a:avLst/>
          </a:prstGeom>
          <a:solidFill>
            <a:srgbClr val="E8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80744"/>
            <a:ext cx="11247120" cy="813816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Zeroth review: multimodal framework → first review: 3D amyloid-PET prototype (198 people, 17 events) → full NACC clinical cohort (19,470 people, 2,818 events) → two decline outcomes, five models, fusion network → PET image pipeline, prototype, 17 verification checks.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2423160"/>
          <a:ext cx="11247120" cy="27432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743200"/>
                <a:gridCol w="850392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latin typeface="Calibri"/>
                        </a:rPr>
                        <a:t>Milestone</a:t>
                      </a:r>
                    </a:p>
                  </a:txBody>
                  <a:tcPr marT="27432" marB="27432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latin typeface="Calibri"/>
                        </a:rPr>
                        <a:t>Evidence and outcome</a:t>
                      </a:r>
                    </a:p>
                  </a:txBody>
                  <a:tcPr marT="27432" marB="27432">
                    <a:solidFill>
                      <a:srgbClr val="F2F4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latin typeface="Calibri"/>
                        </a:rPr>
                        <a:t>First-review prototype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latin typeface="Calibri"/>
                        </a:rPr>
                        <a:t>3D CNN + cross-attention on amyloid PET: AUROC 0.786 in one run, 0.652 on re-run. Too few events to conclude.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latin typeface="Calibri"/>
                        </a:rPr>
                        <a:t>Leakage-free cohort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latin typeface="Calibri"/>
                        </a:rPr>
                        <a:t>First visit, not demented, UDS v1–3; person-level split with 9 whole centres held out.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latin typeface="Calibri"/>
                        </a:rPr>
                        <a:t>Dementia in 3 years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latin typeface="Calibri"/>
                        </a:rPr>
                        <a:t>XGBoost AUROC 0.938 (test), 0.946 (held-out centres); 0.84 within MCI.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latin typeface="Calibri"/>
                        </a:rPr>
                        <a:t>Cognitive decline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latin typeface="Calibri"/>
                        </a:rPr>
                        <a:t>CDR-SB rise ≥ 1: AUROC 0.858 / 0.885; CDR-SB change regression helps MCI.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latin typeface="Calibri"/>
                        </a:rPr>
                        <a:t>Independent checks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latin typeface="Calibri"/>
                        </a:rPr>
                        <a:t>17 of 17 checks pass; two future-information errors found and fixed.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0"/>
            <a:ext cx="11551615" cy="7315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FFFFFF"/>
                </a:solidFill>
                <a:latin typeface="Calibri"/>
              </a:rPr>
              <a:t>02 | Motivation and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46520"/>
            <a:ext cx="109728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2 / 27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11247120" cy="384048"/>
          </a:xfrm>
          <a:prstGeom prst="rect">
            <a:avLst/>
          </a:prstGeom>
          <a:solidFill>
            <a:srgbClr val="0E72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1247120" cy="38404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Problem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44168"/>
            <a:ext cx="11247120" cy="850392"/>
          </a:xfrm>
          <a:prstGeom prst="rect">
            <a:avLst/>
          </a:prstGeom>
          <a:solidFill>
            <a:srgbClr val="E8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80744"/>
            <a:ext cx="11247120" cy="813816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Clinics already record cognition, vascular history, genetics and sometimes PET for older adults without dementia, but rarely combine them into one explainable estimate of near-term decline. Which of these sources actually adds information, and can the estimate be trusted?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31720"/>
            <a:ext cx="11247120" cy="8229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000000"/>
                </a:solidFill>
                <a:latin typeface="Calibri"/>
              </a:rPr>
              <a:t>For a person without dementia at visit t₀, estimate over the next three years: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000000"/>
                </a:solidFill>
                <a:latin typeface="Calibri"/>
              </a:rPr>
              <a:t>p̂_dem = P(dementia | x),     p̂_dec = P(ΔCDR-SB ≥ 1 | x),     Δ̂ = E(ΔCDR-SB | x)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00400"/>
            <a:ext cx="11247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9C1D55"/>
                </a:solidFill>
                <a:latin typeface="Calibri"/>
              </a:rPr>
              <a:t>1.  </a:t>
            </a:r>
            <a:r>
              <a:rPr sz="1500" b="0">
                <a:latin typeface="Calibri"/>
              </a:rPr>
              <a:t>How accurately can both outcomes be predicted, for normal and MCI groups separately?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9C1D55"/>
                </a:solidFill>
                <a:latin typeface="Calibri"/>
              </a:rPr>
              <a:t>2.  </a:t>
            </a:r>
            <a:r>
              <a:rPr sz="1500" b="0">
                <a:latin typeface="Calibri"/>
              </a:rPr>
              <a:t>Does cardiovascular history add to demographics, genetics and current cognition?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9C1D55"/>
                </a:solidFill>
                <a:latin typeface="Calibri"/>
              </a:rPr>
              <a:t>3.  </a:t>
            </a:r>
            <a:r>
              <a:rPr sz="1500" b="0">
                <a:latin typeface="Calibri"/>
              </a:rPr>
              <a:t>Do amyloid and tau PET add to the clinical model?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9C1D55"/>
                </a:solidFill>
                <a:latin typeface="Calibri"/>
              </a:rPr>
              <a:t>4.  </a:t>
            </a:r>
            <a:r>
              <a:rPr sz="1500" b="0">
                <a:latin typeface="Calibri"/>
              </a:rPr>
              <a:t>Do deep models, including a modality-encoder fusion network, beat classical ones?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9C1D55"/>
                </a:solidFill>
                <a:latin typeface="Calibri"/>
              </a:rPr>
              <a:t>5.  </a:t>
            </a:r>
            <a:r>
              <a:rPr sz="1500" b="0">
                <a:latin typeface="Calibri"/>
              </a:rPr>
              <a:t>Do earlier visits help?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9C1D55"/>
                </a:solidFill>
                <a:latin typeface="Calibri"/>
              </a:rPr>
              <a:t>6.  </a:t>
            </a:r>
            <a:r>
              <a:rPr sz="1500" b="0">
                <a:latin typeface="Calibri"/>
              </a:rPr>
              <a:t>Can one model cope with whole categories of information missing?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9C1D55"/>
                </a:solidFill>
                <a:latin typeface="Calibri"/>
              </a:rPr>
              <a:t>7.  </a:t>
            </a:r>
            <a:r>
              <a:rPr sz="1500" b="0">
                <a:latin typeface="Calibri"/>
              </a:rPr>
              <a:t>Can each estimate be explained and supported with published evidence?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0"/>
            <a:ext cx="11551615" cy="7315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FFFFFF"/>
                </a:solidFill>
                <a:latin typeface="Calibri"/>
              </a:rPr>
              <a:t>03 | Literature Review and Research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46520"/>
            <a:ext cx="109728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3 / 27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960120"/>
          <a:ext cx="11247120" cy="343814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651760"/>
                <a:gridCol w="3931920"/>
                <a:gridCol w="4663440"/>
              </a:tblGrid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latin typeface="Calibri"/>
                        </a:rPr>
                        <a:t>Work</a:t>
                      </a:r>
                    </a:p>
                  </a:txBody>
                  <a:tcPr marT="27432" marB="27432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latin typeface="Calibri"/>
                        </a:rPr>
                        <a:t>Core method</a:t>
                      </a:r>
                    </a:p>
                  </a:txBody>
                  <a:tcPr marT="27432" marB="27432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latin typeface="Calibri"/>
                        </a:rPr>
                        <a:t>Relevance / limitation for CardioCog</a:t>
                      </a:r>
                    </a:p>
                  </a:txBody>
                  <a:tcPr marT="27432" marB="27432">
                    <a:solidFill>
                      <a:srgbClr val="F2F4F7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latin typeface="Calibri"/>
                        </a:rPr>
                        <a:t>Livingston et al. (2020)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latin typeface="Calibri"/>
                        </a:rPr>
                        <a:t>Lancet Commission, 12 modifiable risk factors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latin typeface="Calibri"/>
                        </a:rPr>
                        <a:t>Vascular risk matters over the life course; mostly midlife exposure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latin typeface="Calibri"/>
                        </a:rPr>
                        <a:t>Alaka et al. (2025)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latin typeface="Calibri"/>
                        </a:rPr>
                        <a:t>CAIDE + heart rate, random forest, NACC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latin typeface="Calibri"/>
                        </a:rPr>
                        <a:t>Same database; AUC 0.80–0.91, no within-stage results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latin typeface="Calibri"/>
                        </a:rPr>
                        <a:t>Stern &amp; Linial (2026)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latin typeface="Calibri"/>
                        </a:rPr>
                        <a:t>CatBoost on UK Biobank codes + APOE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latin typeface="Calibri"/>
                        </a:rPr>
                        <a:t>AUROC 0.773 without cognitive inputs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latin typeface="Calibri"/>
                        </a:rPr>
                        <a:t>Aschwanden et al. (2020)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latin typeface="Calibri"/>
                        </a:rPr>
                        <a:t>Random survival forests, 52 predictors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latin typeface="Calibri"/>
                        </a:rPr>
                        <a:t>Cardiovascular factors less important than expected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latin typeface="Calibri"/>
                        </a:rPr>
                        <a:t>Yi et al. (2023)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latin typeface="Calibri"/>
                        </a:rPr>
                        <a:t>XGBoost + SHAP for diagnosis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latin typeface="Calibri"/>
                        </a:rPr>
                        <a:t>CDR-SB most important; diagnosis, not prediction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latin typeface="Calibri"/>
                        </a:rPr>
                        <a:t>Gorishniy et al. (2021)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latin typeface="Calibri"/>
                        </a:rPr>
                        <a:t>FT-Transformer for tabular data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latin typeface="Calibri"/>
                        </a:rPr>
                        <a:t>No deep model consistently beats boosted trees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latin typeface="Calibri"/>
                        </a:rPr>
                        <a:t>Lewis et al. (2020)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latin typeface="Calibri"/>
                        </a:rPr>
                        <a:t>Retrieval-augmented generation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latin typeface="Calibri"/>
                        </a:rPr>
                        <a:t>Grounds generated text in a fixed library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4672583"/>
            <a:ext cx="11247120" cy="384048"/>
          </a:xfrm>
          <a:prstGeom prst="rect">
            <a:avLst/>
          </a:prstGeom>
          <a:solidFill>
            <a:srgbClr val="0E72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672583"/>
            <a:ext cx="11247120" cy="38404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Research gap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056631"/>
            <a:ext cx="11247120" cy="530352"/>
          </a:xfrm>
          <a:prstGeom prst="rect">
            <a:avLst/>
          </a:prstGeom>
          <a:solidFill>
            <a:srgbClr val="E8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093207"/>
            <a:ext cx="11247120" cy="493776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Few studies measure, on one large leakage-controlled cohort, </a:t>
            </a:r>
            <a:r>
              <a:rPr sz="1500" b="1">
                <a:solidFill>
                  <a:srgbClr val="000000"/>
                </a:solidFill>
                <a:latin typeface="Calibri"/>
              </a:rPr>
              <a:t>how much each source adds once current cognition is known</a:t>
            </a:r>
            <a:r>
              <a:rPr sz="1500" b="0">
                <a:solidFill>
                  <a:srgbClr val="000000"/>
                </a:solidFill>
                <a:latin typeface="Calibri"/>
              </a:rPr>
              <a:t>, with results </a:t>
            </a:r>
            <a:r>
              <a:rPr sz="1500" b="1">
                <a:solidFill>
                  <a:srgbClr val="000000"/>
                </a:solidFill>
                <a:latin typeface="Calibri"/>
              </a:rPr>
              <a:t>within</a:t>
            </a:r>
            <a:r>
              <a:rPr sz="1500" b="0">
                <a:solidFill>
                  <a:srgbClr val="000000"/>
                </a:solidFill>
                <a:latin typeface="Calibri"/>
              </a:rPr>
              <a:t> normal and MCI groups.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0"/>
            <a:ext cx="11551615" cy="7315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FFFFFF"/>
                </a:solidFill>
                <a:latin typeface="Calibri"/>
              </a:rPr>
              <a:t>Why the design changed after the first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46520"/>
            <a:ext cx="109728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4 / 27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5394960" cy="384048"/>
          </a:xfrm>
          <a:prstGeom prst="rect">
            <a:avLst/>
          </a:prstGeom>
          <a:solidFill>
            <a:srgbClr val="0E72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5394960" cy="38404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First-review prototype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81328"/>
            <a:ext cx="5394960" cy="804672"/>
          </a:xfrm>
          <a:prstGeom prst="rect">
            <a:avLst/>
          </a:prstGeom>
          <a:solidFill>
            <a:srgbClr val="E8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17904"/>
            <a:ext cx="5394960" cy="768096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3D CNN on raw amyloid PET + 34 clinical features, spatial cross-attention, 1-year CDR-SB rise ≥ 0.5.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2560320"/>
          <a:ext cx="5394960" cy="12344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108960"/>
                <a:gridCol w="2286000"/>
              </a:tblGrid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latin typeface="Calibri"/>
                        </a:rPr>
                        <a:t>Run</a:t>
                      </a:r>
                    </a:p>
                  </a:txBody>
                  <a:tcPr marT="27432" marB="27432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latin typeface="Calibri"/>
                        </a:rPr>
                        <a:t>Mean AUROC (SD)</a:t>
                      </a:r>
                    </a:p>
                  </a:txBody>
                  <a:tcPr marT="27432" marB="27432">
                    <a:solidFill>
                      <a:srgbClr val="F2F4F7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latin typeface="Calibri"/>
                        </a:rPr>
                        <a:t>Reported at review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latin typeface="Calibri"/>
                        </a:rPr>
                        <a:t>0.786 (0.134)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latin typeface="Calibri"/>
                        </a:rPr>
                        <a:t>Re-run, same notebook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latin typeface="Calibri"/>
                        </a:rPr>
                        <a:t>0.652 (0.153)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0" y="1097280"/>
            <a:ext cx="530352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C62828"/>
                </a:solidFill>
                <a:latin typeface="Calibri"/>
              </a:rPr>
              <a:t>Diagnosis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481328"/>
            <a:ext cx="5303520" cy="18288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Only 198 people and </a:t>
            </a:r>
            <a:r>
              <a:rPr sz="1500" b="1">
                <a:solidFill>
                  <a:srgbClr val="000000"/>
                </a:solidFill>
                <a:latin typeface="Calibri"/>
              </a:rPr>
              <a:t>17 events</a:t>
            </a:r>
            <a:r>
              <a:rPr sz="1500" b="0">
                <a:solidFill>
                  <a:srgbClr val="000000"/>
                </a:solidFill>
                <a:latin typeface="Calibri"/>
              </a:rPr>
              <a:t>: a handful of participants decides the score. The pipeline also mixed PET time frames, had no registration, read one non-existent column and fitted SHAP on all data.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566160"/>
            <a:ext cx="530352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C62828"/>
                </a:solidFill>
                <a:latin typeface="Calibri"/>
              </a:rPr>
              <a:t>Decision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950208"/>
            <a:ext cx="5303520" cy="13716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Move to the full clinical cohort with three-year outcomes and thousands of events; treat PET images as a separate, validated pipeline.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0"/>
            <a:ext cx="11551615" cy="7315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FFFFFF"/>
                </a:solidFill>
                <a:latin typeface="Calibri"/>
              </a:rPr>
              <a:t>04 | Data: NACC Freeze 74 and the Cohort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46520"/>
            <a:ext cx="109728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5 / 27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05840"/>
          <a:ext cx="5486400" cy="24688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657600"/>
                <a:gridCol w="1828800"/>
              </a:tblGrid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latin typeface="Calibri"/>
                        </a:rPr>
                        <a:t>Step</a:t>
                      </a:r>
                    </a:p>
                  </a:txBody>
                  <a:tcPr marT="27432" marB="27432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latin typeface="Calibri"/>
                        </a:rPr>
                        <a:t>Participants</a:t>
                      </a:r>
                    </a:p>
                  </a:txBody>
                  <a:tcPr marT="27432" marB="27432">
                    <a:solidFill>
                      <a:srgbClr val="F2F4F7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latin typeface="Calibri"/>
                        </a:rPr>
                        <a:t>All participants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latin typeface="Calibri"/>
                        </a:rPr>
                        <a:t>57,038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latin typeface="Calibri"/>
                        </a:rPr>
                        <a:t>First visit, in person, UDS v1–3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latin typeface="Calibri"/>
                        </a:rPr>
                        <a:t>55,461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latin typeface="Calibri"/>
                        </a:rPr>
                        <a:t>   not demented at that visit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latin typeface="Calibri"/>
                        </a:rPr>
                        <a:t>38,107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latin typeface="Calibri"/>
                        </a:rPr>
                        <a:t>   outcome known at 3 years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latin typeface="Calibri"/>
                        </a:rPr>
                        <a:t>19,470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latin typeface="Calibri"/>
                        </a:rPr>
                        <a:t>      converted to dementia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latin typeface="Calibri"/>
                        </a:rPr>
                        <a:t>2,818 (14.5%)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3794760"/>
            <a:ext cx="5486400" cy="384048"/>
          </a:xfrm>
          <a:prstGeom prst="rect">
            <a:avLst/>
          </a:prstGeom>
          <a:solidFill>
            <a:srgbClr val="0E72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794760"/>
            <a:ext cx="5486400" cy="38404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Three groups, very different risk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178808"/>
            <a:ext cx="5486400" cy="1033272"/>
          </a:xfrm>
          <a:prstGeom prst="rect">
            <a:avLst/>
          </a:prstGeom>
          <a:solidFill>
            <a:srgbClr val="E8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215384"/>
            <a:ext cx="5486400" cy="996696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Normal 12,377 (1.6% convert)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MCI 5,993 (41.5%)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Impaired, not MCI 1,100 (12.3%)</a:t>
            </a:r>
          </a:p>
        </p:txBody>
      </p:sp>
      <p:pic>
        <p:nvPicPr>
          <p:cNvPr id="10" name="Picture 9" descr="spl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097280"/>
            <a:ext cx="5486400" cy="130513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09360" y="274320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B2A4A"/>
                </a:solidFill>
                <a:latin typeface="Calibri"/>
              </a:rPr>
              <a:t>•  </a:t>
            </a:r>
            <a:r>
              <a:rPr sz="1600" b="0">
                <a:latin typeface="Calibri"/>
              </a:rPr>
              <a:t>Person-level split; </a:t>
            </a:r>
            <a:r>
              <a:rPr sz="1600" b="1">
                <a:latin typeface="Calibri"/>
              </a:rPr>
              <a:t>9 of 46 centres held out</a:t>
            </a:r>
            <a:r>
              <a:rPr sz="1600" b="0">
                <a:latin typeface="Calibri"/>
              </a:rPr>
              <a:t> entirely.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B2A4A"/>
                </a:solidFill>
                <a:latin typeface="Calibri"/>
              </a:rPr>
              <a:t>•  </a:t>
            </a:r>
            <a:r>
              <a:rPr sz="1600" b="0">
                <a:latin typeface="Calibri"/>
              </a:rPr>
              <a:t>Train 70% / validation 15% / test 15%, seed 2026.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B2A4A"/>
                </a:solidFill>
                <a:latin typeface="Calibri"/>
              </a:rPr>
              <a:t>•  </a:t>
            </a:r>
            <a:r>
              <a:rPr sz="1600" b="0">
                <a:latin typeface="Calibri"/>
              </a:rPr>
              <a:t>Every normaliser and imputer fitted on training data only.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0"/>
            <a:ext cx="11551615" cy="7315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FFFFFF"/>
                </a:solidFill>
                <a:latin typeface="Calibri"/>
              </a:rPr>
              <a:t>Outcomes and censoring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46520"/>
            <a:ext cx="109728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6 / 27</a:t>
            </a:r>
          </a:p>
        </p:txBody>
      </p:sp>
      <p:pic>
        <p:nvPicPr>
          <p:cNvPr id="5" name="Picture 4" descr="outc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6309360" cy="195355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949440" y="1005840"/>
            <a:ext cx="4846320" cy="1463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000000"/>
                </a:solidFill>
                <a:latin typeface="Calibri"/>
              </a:rPr>
              <a:t>y = 1 if T ≤ 3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000000"/>
                </a:solidFill>
                <a:latin typeface="Calibri"/>
              </a:rPr>
              <a:t>y = 0 if T &gt; 3 and C ≥ 3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000000"/>
                </a:solidFill>
                <a:latin typeface="Calibri"/>
              </a:rPr>
              <a:t>y unknown if T &gt; 3 and C &lt; 3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000000"/>
                </a:solidFill>
                <a:latin typeface="Calibri"/>
              </a:rPr>
              <a:t>T: years to dementia diagnosis; C: years to last visit.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949440" y="2697480"/>
            <a:ext cx="4846320" cy="384048"/>
          </a:xfrm>
          <a:prstGeom prst="rect">
            <a:avLst/>
          </a:prstGeom>
          <a:solidFill>
            <a:srgbClr val="0E72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0" y="2697480"/>
            <a:ext cx="4846320" cy="38404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Secondary outcomes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949440" y="3081528"/>
            <a:ext cx="4846320" cy="896112"/>
          </a:xfrm>
          <a:prstGeom prst="rect">
            <a:avLst/>
          </a:prstGeom>
          <a:solidFill>
            <a:srgbClr val="E8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3118104"/>
            <a:ext cx="4846320" cy="859536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CDR-SB rise ≥ 1 within 3 years (20,355 people, 5,035 events) and the 3-year change Δ in CDR-SB.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4206240"/>
            <a:ext cx="484632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C62828"/>
                </a:solidFill>
                <a:latin typeface="Calibri"/>
              </a:rPr>
              <a:t>Robustness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4590288"/>
            <a:ext cx="4846320" cy="10972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A Cox model that keeps censored participants gives the same conclusions.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0"/>
            <a:ext cx="11551615" cy="7315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FFFFFF"/>
                </a:solidFill>
                <a:latin typeface="Calibri"/>
              </a:rPr>
              <a:t>05 | 48 Features in Five Categories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46520"/>
            <a:ext cx="109728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7 / 27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05840"/>
          <a:ext cx="5486400" cy="268833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206240"/>
                <a:gridCol w="128016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latin typeface="Calibri"/>
                        </a:rPr>
                        <a:t>Category</a:t>
                      </a:r>
                    </a:p>
                  </a:txBody>
                  <a:tcPr marT="27432" marB="27432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latin typeface="Calibri"/>
                        </a:rPr>
                        <a:t>Features</a:t>
                      </a:r>
                    </a:p>
                  </a:txBody>
                  <a:tcPr marT="27432" marB="27432">
                    <a:solidFill>
                      <a:srgbClr val="F2F4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latin typeface="Calibri"/>
                        </a:rPr>
                        <a:t>Demographics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latin typeface="Calibri"/>
                        </a:rPr>
                        <a:t>8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latin typeface="Calibri"/>
                        </a:rPr>
                        <a:t>Cardiovascular and medical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latin typeface="Calibri"/>
                        </a:rPr>
                        <a:t>25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latin typeface="Calibri"/>
                        </a:rPr>
                        <a:t>Cognitive tests (z-scores)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latin typeface="Calibri"/>
                        </a:rPr>
                        <a:t>9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latin typeface="Calibri"/>
                        </a:rPr>
                        <a:t>Clinical stage (CDR-SB, diagnosis)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latin typeface="Calibri"/>
                        </a:rPr>
                        <a:t>3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latin typeface="Calibri"/>
                        </a:rPr>
                        <a:t>Genetics (APOE ε4, family history)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latin typeface="Calibri"/>
                        </a:rPr>
                        <a:t>3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latin typeface="Calibri"/>
                        </a:rPr>
                        <a:t>PET (second-stage model only)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latin typeface="Calibri"/>
                        </a:rPr>
                        <a:t>4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3968496"/>
            <a:ext cx="5486400" cy="384048"/>
          </a:xfrm>
          <a:prstGeom prst="rect">
            <a:avLst/>
          </a:prstGeom>
          <a:solidFill>
            <a:srgbClr val="0E72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968496"/>
            <a:ext cx="5486400" cy="38404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Harmonising tests across form versions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352544"/>
            <a:ext cx="5486400" cy="1078992"/>
          </a:xfrm>
          <a:prstGeom prst="rect">
            <a:avLst/>
          </a:prstGeom>
          <a:solidFill>
            <a:srgbClr val="E8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389120"/>
            <a:ext cx="5486400" cy="1042416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ŝ = β₀ + β₁·age + β₂·female + β₃·education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z = (s − ŝ) / σ_res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Fitted on cognitively normal training participants.</a:t>
            </a:r>
          </a:p>
        </p:txBody>
      </p:sp>
      <p:pic>
        <p:nvPicPr>
          <p:cNvPr id="10" name="Picture 9" descr="zs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005840"/>
            <a:ext cx="5486400" cy="17643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09360" y="3017520"/>
            <a:ext cx="5486400" cy="18288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000000"/>
                </a:solidFill>
                <a:latin typeface="Calibri"/>
              </a:rPr>
              <a:t>MoCA example: expected 25.8 for a 72-year-old woman with 16 years of education, so a score of 21 gives z = −1.9. Healthy people not used for fitting score within 0.1 of zero in every UDS version.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0"/>
            <a:ext cx="11551615" cy="7315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FFFFFF"/>
                </a:solidFill>
                <a:latin typeface="Calibri"/>
              </a:rPr>
              <a:t>06 | Methodology: the CardioCog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46520"/>
            <a:ext cx="109728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8 / 27</a:t>
            </a:r>
          </a:p>
        </p:txBody>
      </p:sp>
      <p:pic>
        <p:nvPicPr>
          <p:cNvPr id="5" name="Picture 4" descr="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868680"/>
            <a:ext cx="9235440" cy="443463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5440478"/>
            <a:ext cx="11247120" cy="384048"/>
          </a:xfrm>
          <a:prstGeom prst="rect">
            <a:avLst/>
          </a:prstGeom>
          <a:solidFill>
            <a:srgbClr val="0E72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5440478"/>
            <a:ext cx="11247120" cy="38404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Rule for every step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824526"/>
            <a:ext cx="11247120" cy="530352"/>
          </a:xfrm>
          <a:prstGeom prst="rect">
            <a:avLst/>
          </a:prstGeom>
          <a:solidFill>
            <a:srgbClr val="E8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861102"/>
            <a:ext cx="11247120" cy="493776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Only information available at the index visit; anything learned from data is fitted on the training set; results are reported on the test set and on centres never seen in training.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0"/>
            <a:ext cx="11551615" cy="7315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FFFFFF"/>
                </a:solidFill>
                <a:latin typeface="Calibri"/>
              </a:rPr>
              <a:t>Models compared on the same 48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46520"/>
            <a:ext cx="109728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9 / 27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05840"/>
          <a:ext cx="5669280" cy="263347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03120"/>
                <a:gridCol w="3566160"/>
              </a:tblGrid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latin typeface="Calibri"/>
                        </a:rPr>
                        <a:t>Model</a:t>
                      </a:r>
                    </a:p>
                  </a:txBody>
                  <a:tcPr marT="27432" marB="27432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latin typeface="Calibri"/>
                        </a:rPr>
                        <a:t>Key settings</a:t>
                      </a:r>
                    </a:p>
                  </a:txBody>
                  <a:tcPr marT="27432" marB="27432">
                    <a:solidFill>
                      <a:srgbClr val="F2F4F7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latin typeface="Calibri"/>
                        </a:rPr>
                        <a:t>Logistic regression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latin typeface="Calibri"/>
                        </a:rPr>
                        <a:t>L2 penalty, C from 5 values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latin typeface="Calibri"/>
                        </a:rPr>
                        <a:t>Random forest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latin typeface="Calibri"/>
                        </a:rPr>
                        <a:t>500 trees, √p features per split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latin typeface="Calibri"/>
                        </a:rPr>
                        <a:t>XGBoost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latin typeface="Calibri"/>
                        </a:rPr>
                        <a:t>η = 0.03, depth 3–6, λ = 2, early stopping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latin typeface="Calibri"/>
                        </a:rPr>
                        <a:t>MLP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latin typeface="Calibri"/>
                        </a:rPr>
                        <a:t>128–64 units, dropout 0.2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latin typeface="Calibri"/>
                        </a:rPr>
                        <a:t>FT-Transformer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latin typeface="Calibri"/>
                        </a:rPr>
                        <a:t>64-d tokens, 3 layers, 8 heads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822191"/>
            <a:ext cx="5669280" cy="10972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000000"/>
                </a:solidFill>
                <a:latin typeface="Calibri"/>
              </a:rPr>
              <a:t>Three seeds averaged; XGBoost chosen as the main model (handles missing values, exact SHAP).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92240" y="1005840"/>
            <a:ext cx="5212080" cy="384048"/>
          </a:xfrm>
          <a:prstGeom prst="rect">
            <a:avLst/>
          </a:prstGeom>
          <a:solidFill>
            <a:srgbClr val="0E72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005840"/>
            <a:ext cx="5212080" cy="38404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XGBoost objective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1389888"/>
            <a:ext cx="5212080" cy="1216152"/>
          </a:xfrm>
          <a:prstGeom prst="rect">
            <a:avLst/>
          </a:prstGeom>
          <a:solidFill>
            <a:srgbClr val="E8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426464"/>
            <a:ext cx="5212080" cy="1179576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f_M(x) = Σₘ η·gₘ(x)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w*ⱼ = −Σ Gᵢ / (Σ Hᵢ + λ)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G, H: first and second derivatives of the loss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2880360"/>
            <a:ext cx="5212080" cy="384048"/>
          </a:xfrm>
          <a:prstGeom prst="rect">
            <a:avLst/>
          </a:prstGeom>
          <a:solidFill>
            <a:srgbClr val="0E72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880360"/>
            <a:ext cx="5212080" cy="38404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Loss and evaluation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3264408"/>
            <a:ext cx="5212080" cy="1216152"/>
          </a:xfrm>
          <a:prstGeom prst="rect">
            <a:avLst/>
          </a:prstGeom>
          <a:solidFill>
            <a:srgbClr val="E8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300984"/>
            <a:ext cx="5212080" cy="1179576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L = −(1/n) Σ [y log p̂ + (1−y) log(1−p̂)]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AUROC, AUPRC, Brier, calibration slope, net benefit; 1,000 paired bootstrap resamples.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0"/>
            <a:ext cx="11551615" cy="7315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FFFFFF"/>
                </a:solidFill>
                <a:latin typeface="Calibri"/>
              </a:rPr>
              <a:t>Modality-encoder fusion network (proposed architecture)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46520"/>
            <a:ext cx="109728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10 / 27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51560"/>
            <a:ext cx="2011680" cy="548640"/>
          </a:xfrm>
          <a:prstGeom prst="roundRect">
            <a:avLst/>
          </a:prstGeom>
          <a:solidFill>
            <a:srgbClr val="E8F3F2"/>
          </a:solidFill>
          <a:ln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000000"/>
                </a:solidFill>
                <a:latin typeface="Calibri"/>
              </a:rPr>
              <a:t>Demographics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74519"/>
            <a:ext cx="201168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000000"/>
                </a:solidFill>
                <a:latin typeface="Calibri"/>
              </a:rPr>
              <a:t>Encoder E_g → token t_g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88920" y="1051560"/>
            <a:ext cx="2011680" cy="548640"/>
          </a:xfrm>
          <a:prstGeom prst="roundRect">
            <a:avLst/>
          </a:prstGeom>
          <a:solidFill>
            <a:srgbClr val="E8F3F2"/>
          </a:solidFill>
          <a:ln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000000"/>
                </a:solidFill>
                <a:latin typeface="Calibri"/>
              </a:rPr>
              <a:t>Genetics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88920" y="1874519"/>
            <a:ext cx="201168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000000"/>
                </a:solidFill>
                <a:latin typeface="Calibri"/>
              </a:rPr>
              <a:t>Encoder E_g → token t_g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74920" y="1051560"/>
            <a:ext cx="2011680" cy="548640"/>
          </a:xfrm>
          <a:prstGeom prst="roundRect">
            <a:avLst/>
          </a:prstGeom>
          <a:solidFill>
            <a:srgbClr val="E8F3F2"/>
          </a:solidFill>
          <a:ln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000000"/>
                </a:solidFill>
                <a:latin typeface="Calibri"/>
              </a:rPr>
              <a:t>Cardiovascular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74920" y="1874519"/>
            <a:ext cx="201168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000000"/>
                </a:solidFill>
                <a:latin typeface="Calibri"/>
              </a:rPr>
              <a:t>Encoder E_g → token t_g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1051560"/>
            <a:ext cx="2011680" cy="548640"/>
          </a:xfrm>
          <a:prstGeom prst="roundRect">
            <a:avLst/>
          </a:prstGeom>
          <a:solidFill>
            <a:srgbClr val="E8F3F2"/>
          </a:solidFill>
          <a:ln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000000"/>
                </a:solidFill>
                <a:latin typeface="Calibri"/>
              </a:rPr>
              <a:t>Cognitive tests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60920" y="1874519"/>
            <a:ext cx="201168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000000"/>
                </a:solidFill>
                <a:latin typeface="Calibri"/>
              </a:rPr>
              <a:t>Encoder E_g → token t_g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46920" y="1051560"/>
            <a:ext cx="2011680" cy="548640"/>
          </a:xfrm>
          <a:prstGeom prst="roundRect">
            <a:avLst/>
          </a:prstGeom>
          <a:solidFill>
            <a:srgbClr val="E8F3F2"/>
          </a:solidFill>
          <a:ln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000000"/>
                </a:solidFill>
                <a:latin typeface="Calibri"/>
              </a:rPr>
              <a:t>Clinical stage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46920" y="1874519"/>
            <a:ext cx="201168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000000"/>
                </a:solidFill>
                <a:latin typeface="Calibri"/>
              </a:rPr>
              <a:t>Encoder E_g → token t_g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7560" y="2971800"/>
            <a:ext cx="5486400" cy="548640"/>
          </a:xfrm>
          <a:prstGeom prst="roundRect">
            <a:avLst/>
          </a:prstGeom>
          <a:solidFill>
            <a:srgbClr val="E8F3F2"/>
          </a:solidFill>
          <a:ln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000000"/>
                </a:solidFill>
                <a:latin typeface="Calibri"/>
              </a:rPr>
              <a:t>4-head attention with learned query q → fused z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508760" y="1600200"/>
            <a:ext cx="0" cy="274319"/>
          </a:xfrm>
          <a:prstGeom prst="line">
            <a:avLst/>
          </a:prstGeom>
          <a:ln w="19050">
            <a:solidFill>
              <a:srgbClr val="1B2A4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508760" y="2423160"/>
            <a:ext cx="4572000" cy="548640"/>
          </a:xfrm>
          <a:prstGeom prst="line">
            <a:avLst/>
          </a:prstGeom>
          <a:ln w="19050">
            <a:solidFill>
              <a:srgbClr val="1B2A4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794760" y="1600200"/>
            <a:ext cx="0" cy="274319"/>
          </a:xfrm>
          <a:prstGeom prst="line">
            <a:avLst/>
          </a:prstGeom>
          <a:ln w="19050">
            <a:solidFill>
              <a:srgbClr val="1B2A4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794760" y="2423160"/>
            <a:ext cx="2286000" cy="548640"/>
          </a:xfrm>
          <a:prstGeom prst="line">
            <a:avLst/>
          </a:prstGeom>
          <a:ln w="19050">
            <a:solidFill>
              <a:srgbClr val="1B2A4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080760" y="1600200"/>
            <a:ext cx="0" cy="274319"/>
          </a:xfrm>
          <a:prstGeom prst="line">
            <a:avLst/>
          </a:prstGeom>
          <a:ln w="19050">
            <a:solidFill>
              <a:srgbClr val="1B2A4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080760" y="2423160"/>
            <a:ext cx="0" cy="548640"/>
          </a:xfrm>
          <a:prstGeom prst="line">
            <a:avLst/>
          </a:prstGeom>
          <a:ln w="19050">
            <a:solidFill>
              <a:srgbClr val="1B2A4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366760" y="1600200"/>
            <a:ext cx="0" cy="274319"/>
          </a:xfrm>
          <a:prstGeom prst="line">
            <a:avLst/>
          </a:prstGeom>
          <a:ln w="19050">
            <a:solidFill>
              <a:srgbClr val="1B2A4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6080760" y="2423160"/>
            <a:ext cx="2286000" cy="548640"/>
          </a:xfrm>
          <a:prstGeom prst="line">
            <a:avLst/>
          </a:prstGeom>
          <a:ln w="19050">
            <a:solidFill>
              <a:srgbClr val="1B2A4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652760" y="1600200"/>
            <a:ext cx="0" cy="274319"/>
          </a:xfrm>
          <a:prstGeom prst="line">
            <a:avLst/>
          </a:prstGeom>
          <a:ln w="19050">
            <a:solidFill>
              <a:srgbClr val="1B2A4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6080760" y="2423160"/>
            <a:ext cx="4572000" cy="548640"/>
          </a:xfrm>
          <a:prstGeom prst="line">
            <a:avLst/>
          </a:prstGeom>
          <a:ln w="19050">
            <a:solidFill>
              <a:srgbClr val="1B2A4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2194560" y="4023360"/>
            <a:ext cx="3291840" cy="548640"/>
          </a:xfrm>
          <a:prstGeom prst="roundRect">
            <a:avLst/>
          </a:prstGeom>
          <a:solidFill>
            <a:srgbClr val="F5E8EE"/>
          </a:solidFill>
          <a:ln>
            <a:solidFill>
              <a:srgbClr val="9C1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000000"/>
                </a:solidFill>
                <a:latin typeface="Calibri"/>
              </a:rPr>
              <a:t>Risk head: p̂ = σ(r(z))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75120" y="4023360"/>
            <a:ext cx="3291840" cy="548640"/>
          </a:xfrm>
          <a:prstGeom prst="roundRect">
            <a:avLst/>
          </a:prstGeom>
          <a:solidFill>
            <a:srgbClr val="F5E8EE"/>
          </a:solidFill>
          <a:ln>
            <a:solidFill>
              <a:srgbClr val="9C1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000000"/>
                </a:solidFill>
                <a:latin typeface="Calibri"/>
              </a:rPr>
              <a:t>Progression head: Δ̂ = q(z)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241280" y="4023360"/>
            <a:ext cx="16916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0E72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000000"/>
                </a:solidFill>
                <a:latin typeface="Calibri"/>
              </a:rPr>
              <a:t>Tier 2: PET by late fusion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3840480" y="3520440"/>
            <a:ext cx="2240280" cy="502920"/>
          </a:xfrm>
          <a:prstGeom prst="line">
            <a:avLst/>
          </a:prstGeom>
          <a:ln w="19050">
            <a:solidFill>
              <a:srgbClr val="1B2A4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080760" y="3520440"/>
            <a:ext cx="2240280" cy="502920"/>
          </a:xfrm>
          <a:prstGeom prst="line">
            <a:avLst/>
          </a:prstGeom>
          <a:ln w="19050">
            <a:solidFill>
              <a:srgbClr val="1B2A4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57200" y="4937760"/>
            <a:ext cx="11247120" cy="13716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000000"/>
                </a:solidFill>
                <a:latin typeface="Calibri"/>
              </a:rPr>
              <a:t>A missing modality gets a learned token m_g; each token gets a type embedding τ_g; whole modalities are hidden with probability 0.35 in training.</a:t>
            </a:r>
          </a:p>
          <a:p>
            <a:pPr algn="ctr">
              <a:spcAft>
                <a:spcPts val="400"/>
              </a:spcAft>
            </a:pPr>
            <a:r>
              <a:rPr sz="1600" b="0">
                <a:solidFill>
                  <a:srgbClr val="000000"/>
                </a:solidFill>
                <a:latin typeface="Calibri"/>
              </a:rPr>
              <a:t>L = L_BCE + 0.5 · Huber(Δ − Δ̂),     α_g = softmax_g((W_Q q)ᵀ W_K t_g / √8)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0"/>
            <a:ext cx="11551615" cy="7315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FFFFFF"/>
                </a:solidFill>
                <a:latin typeface="Calibri"/>
              </a:rPr>
              <a:t>07 | Results: Dementia Within Three Years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46520"/>
            <a:ext cx="109728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11 / 27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960120"/>
          <a:ext cx="11247120" cy="24688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560320"/>
                <a:gridCol w="2651760"/>
                <a:gridCol w="1280160"/>
                <a:gridCol w="1280160"/>
                <a:gridCol w="1828800"/>
                <a:gridCol w="1645920"/>
              </a:tblGrid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latin typeface="Calibri"/>
                        </a:rPr>
                        <a:t>Model</a:t>
                      </a:r>
                    </a:p>
                  </a:txBody>
                  <a:tcPr marT="27432" marB="27432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latin typeface="Calibri"/>
                        </a:rPr>
                        <a:t>Test AUROC (95% CI)</a:t>
                      </a:r>
                    </a:p>
                  </a:txBody>
                  <a:tcPr marT="27432" marB="27432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latin typeface="Calibri"/>
                        </a:rPr>
                        <a:t>AUPRC</a:t>
                      </a:r>
                    </a:p>
                  </a:txBody>
                  <a:tcPr marT="27432" marB="27432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latin typeface="Calibri"/>
                        </a:rPr>
                        <a:t>Brier</a:t>
                      </a:r>
                    </a:p>
                  </a:txBody>
                  <a:tcPr marT="27432" marB="27432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latin typeface="Calibri"/>
                        </a:rPr>
                        <a:t>Held-out AUROC</a:t>
                      </a:r>
                    </a:p>
                  </a:txBody>
                  <a:tcPr marT="27432" marB="27432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latin typeface="Calibri"/>
                        </a:rPr>
                        <a:t>Held-out Brier</a:t>
                      </a:r>
                    </a:p>
                  </a:txBody>
                  <a:tcPr marT="27432" marB="27432">
                    <a:solidFill>
                      <a:srgbClr val="F2F4F7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latin typeface="Calibri"/>
                        </a:rPr>
                        <a:t>Logistic regression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latin typeface="Calibri"/>
                        </a:rPr>
                        <a:t>0.936 (0.924–0.949)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latin typeface="Calibri"/>
                        </a:rPr>
                        <a:t>0.721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latin typeface="Calibri"/>
                        </a:rPr>
                        <a:t>0.066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latin typeface="Calibri"/>
                        </a:rPr>
                        <a:t>0.945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latin typeface="Calibri"/>
                        </a:rPr>
                        <a:t>0.060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latin typeface="Calibri"/>
                        </a:rPr>
                        <a:t>Random forest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latin typeface="Calibri"/>
                        </a:rPr>
                        <a:t>0.932 (0.919–0.944)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latin typeface="Calibri"/>
                        </a:rPr>
                        <a:t>0.704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latin typeface="Calibri"/>
                        </a:rPr>
                        <a:t>0.070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latin typeface="Calibri"/>
                        </a:rPr>
                        <a:t>0.940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latin typeface="Calibri"/>
                        </a:rPr>
                        <a:t>0.064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latin typeface="Calibri"/>
                        </a:rPr>
                        <a:t>XGBoost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latin typeface="Calibri"/>
                        </a:rPr>
                        <a:t>0.938 (0.925–0.948)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latin typeface="Calibri"/>
                        </a:rPr>
                        <a:t>0.713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latin typeface="Calibri"/>
                        </a:rPr>
                        <a:t>0.066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latin typeface="Calibri"/>
                        </a:rPr>
                        <a:t>0.946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latin typeface="Calibri"/>
                        </a:rPr>
                        <a:t>0.059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latin typeface="Calibri"/>
                        </a:rPr>
                        <a:t>MLP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latin typeface="Calibri"/>
                        </a:rPr>
                        <a:t>0.938 (0.926–0.949)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latin typeface="Calibri"/>
                        </a:rPr>
                        <a:t>0.721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latin typeface="Calibri"/>
                        </a:rPr>
                        <a:t>0.066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latin typeface="Calibri"/>
                        </a:rPr>
                        <a:t>0.946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latin typeface="Calibri"/>
                        </a:rPr>
                        <a:t>0.059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latin typeface="Calibri"/>
                        </a:rPr>
                        <a:t>FT-Transformer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latin typeface="Calibri"/>
                        </a:rPr>
                        <a:t>0.939 (0.927–0.949)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latin typeface="Calibri"/>
                        </a:rPr>
                        <a:t>0.720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latin typeface="Calibri"/>
                        </a:rPr>
                        <a:t>0.066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latin typeface="Calibri"/>
                        </a:rPr>
                        <a:t>0.945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latin typeface="Calibri"/>
                        </a:rPr>
                        <a:t>0.061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474720"/>
            <a:ext cx="1124712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Test set: 2,286 participants, 332 events. Held-out centres: 4,064 participants, 545 events.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886200"/>
            <a:ext cx="11247120" cy="384048"/>
          </a:xfrm>
          <a:prstGeom prst="rect">
            <a:avLst/>
          </a:prstGeom>
          <a:solidFill>
            <a:srgbClr val="0E72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886200"/>
            <a:ext cx="11247120" cy="38404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What the result does establish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270248"/>
            <a:ext cx="11247120" cy="530352"/>
          </a:xfrm>
          <a:prstGeom prst="rect">
            <a:avLst/>
          </a:prstGeom>
          <a:solidFill>
            <a:srgbClr val="E8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4306824"/>
            <a:ext cx="11247120" cy="493776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All five models discriminate well and are well calibrated (constant-prediction Brier 0.124), at new centres as well as on the test set.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983480"/>
            <a:ext cx="11247120" cy="384048"/>
          </a:xfrm>
          <a:prstGeom prst="rect">
            <a:avLst/>
          </a:prstGeom>
          <a:solidFill>
            <a:srgbClr val="0E72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983480"/>
            <a:ext cx="11247120" cy="38404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What it does not establish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367528"/>
            <a:ext cx="11247120" cy="530352"/>
          </a:xfrm>
          <a:prstGeom prst="rect">
            <a:avLst/>
          </a:prstGeom>
          <a:solidFill>
            <a:srgbClr val="E8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5404104"/>
            <a:ext cx="11247120" cy="493776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Intervals overlap almost completely: deep models give </a:t>
            </a:r>
            <a:r>
              <a:rPr sz="1500" b="1">
                <a:solidFill>
                  <a:srgbClr val="000000"/>
                </a:solidFill>
                <a:latin typeface="Calibri"/>
              </a:rPr>
              <a:t>no gain</a:t>
            </a:r>
            <a:r>
              <a:rPr sz="1500" b="0">
                <a:solidFill>
                  <a:srgbClr val="000000"/>
                </a:solidFill>
                <a:latin typeface="Calibri"/>
              </a:rPr>
              <a:t> over logistic regression or boosted trees.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0"/>
            <a:ext cx="11551615" cy="7315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FFFFFF"/>
                </a:solidFill>
                <a:latin typeface="Calibri"/>
              </a:rPr>
              <a:t>Is 0.94 too good? Results within diagnostic groups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46520"/>
            <a:ext cx="109728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12 / 27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5669280" cy="18288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474720"/>
                <a:gridCol w="1097280"/>
                <a:gridCol w="109728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latin typeface="Calibri"/>
                        </a:rPr>
                        <a:t>Group (test / held-out events)</a:t>
                      </a:r>
                    </a:p>
                  </a:txBody>
                  <a:tcPr marT="27432" marB="27432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latin typeface="Calibri"/>
                        </a:rPr>
                        <a:t>Test</a:t>
                      </a:r>
                    </a:p>
                  </a:txBody>
                  <a:tcPr marT="27432" marB="27432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latin typeface="Calibri"/>
                        </a:rPr>
                        <a:t>Held-out</a:t>
                      </a:r>
                    </a:p>
                  </a:txBody>
                  <a:tcPr marT="27432" marB="27432">
                    <a:solidFill>
                      <a:srgbClr val="F2F4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latin typeface="Calibri"/>
                        </a:rPr>
                        <a:t>All not demented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0.937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0.946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latin typeface="Calibri"/>
                        </a:rPr>
                        <a:t>Cognitively normal (24 / 37)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0.884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0.876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latin typeface="Calibri"/>
                        </a:rPr>
                        <a:t>MCI (289 / 496)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0.835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latin typeface="Calibri"/>
                        </a:rPr>
                        <a:t>0.846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3291840"/>
            <a:ext cx="5669280" cy="384048"/>
          </a:xfrm>
          <a:prstGeom prst="rect">
            <a:avLst/>
          </a:prstGeom>
          <a:solidFill>
            <a:srgbClr val="0E72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291840"/>
            <a:ext cx="5669280" cy="38404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Interpretation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675888"/>
            <a:ext cx="5669280" cy="987552"/>
          </a:xfrm>
          <a:prstGeom prst="rect">
            <a:avLst/>
          </a:prstGeom>
          <a:solidFill>
            <a:srgbClr val="E8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712464"/>
            <a:ext cx="5669280" cy="950976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Diagnosis alone gives AUROC 0.84, because MCI converts 25 times as often as normal cognition. Within MCI the model still ranks risk at </a:t>
            </a:r>
            <a:r>
              <a:rPr sz="1500" b="1">
                <a:solidFill>
                  <a:srgbClr val="000000"/>
                </a:solidFill>
                <a:latin typeface="Calibri"/>
              </a:rPr>
              <a:t>0.84</a:t>
            </a:r>
            <a:r>
              <a:rPr sz="1500" b="0">
                <a:solidFill>
                  <a:srgbClr val="000000"/>
                </a:solidFill>
                <a:latin typeface="Calibri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097280"/>
            <a:ext cx="512064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C62828"/>
                </a:solidFill>
                <a:latin typeface="Calibri"/>
              </a:rPr>
              <a:t>Critical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481328"/>
            <a:ext cx="5120640" cy="10058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Removing all current-cognition information drops AUROC from 0.937 to </a:t>
            </a:r>
            <a:r>
              <a:rPr sz="1500" b="1">
                <a:solidFill>
                  <a:srgbClr val="000000"/>
                </a:solidFill>
                <a:latin typeface="Calibri"/>
              </a:rPr>
              <a:t>0.746</a:t>
            </a:r>
            <a:r>
              <a:rPr sz="1500" b="0">
                <a:solidFill>
                  <a:srgbClr val="000000"/>
                </a:solidFill>
                <a:latin typeface="Calibri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743200"/>
            <a:ext cx="512064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C62828"/>
                </a:solidFill>
                <a:latin typeface="Calibri"/>
              </a:rPr>
              <a:t>Meaning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127248"/>
            <a:ext cx="5120640" cy="16459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The model estimates short-term progression given the current clinical stage. It is not leakage: inputs are from the index visit, the label from later visits.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0"/>
            <a:ext cx="11551615" cy="7315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FFFFFF"/>
                </a:solidFill>
                <a:latin typeface="Calibri"/>
              </a:rPr>
              <a:t>What drives the prediction? Category ablation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46520"/>
            <a:ext cx="109728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13 / 27</a:t>
            </a:r>
          </a:p>
        </p:txBody>
      </p:sp>
      <p:pic>
        <p:nvPicPr>
          <p:cNvPr id="5" name="Picture 4" descr="06_feature_grou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868680"/>
            <a:ext cx="10515600" cy="2944368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194560" y="3904487"/>
          <a:ext cx="7772400" cy="197510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743200"/>
                <a:gridCol w="1188720"/>
                <a:gridCol w="2103120"/>
                <a:gridCol w="1737360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latin typeface="Calibri"/>
                        </a:rPr>
                        <a:t>Category</a:t>
                      </a:r>
                    </a:p>
                  </a:txBody>
                  <a:tcPr marT="27432" marB="27432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latin typeface="Calibri"/>
                        </a:rPr>
                        <a:t>Alone</a:t>
                      </a:r>
                    </a:p>
                  </a:txBody>
                  <a:tcPr marT="27432" marB="27432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latin typeface="Calibri"/>
                        </a:rPr>
                        <a:t>Gain added last (test)</a:t>
                      </a:r>
                    </a:p>
                  </a:txBody>
                  <a:tcPr marT="27432" marB="27432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latin typeface="Calibri"/>
                        </a:rPr>
                        <a:t>Gain (held-out)</a:t>
                      </a:r>
                    </a:p>
                  </a:txBody>
                  <a:tcPr marT="27432" marB="27432">
                    <a:solidFill>
                      <a:srgbClr val="F2F4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latin typeface="Calibri"/>
                        </a:rPr>
                        <a:t>Cognitive tests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latin typeface="Calibri"/>
                        </a:rPr>
                        <a:t>0.896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latin typeface="Calibri"/>
                        </a:rPr>
                        <a:t>+0.022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latin typeface="Calibri"/>
                        </a:rPr>
                        <a:t>+0.019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latin typeface="Calibri"/>
                        </a:rPr>
                        <a:t>Clinical stage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latin typeface="Calibri"/>
                        </a:rPr>
                        <a:t>0.897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latin typeface="Calibri"/>
                        </a:rPr>
                        <a:t>+0.015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latin typeface="Calibri"/>
                        </a:rPr>
                        <a:t>+0.021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latin typeface="Calibri"/>
                        </a:rPr>
                        <a:t>Demographics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latin typeface="Calibri"/>
                        </a:rPr>
                        <a:t>0.671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latin typeface="Calibri"/>
                        </a:rPr>
                        <a:t>+0.010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latin typeface="Calibri"/>
                        </a:rPr>
                        <a:t>+0.009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latin typeface="Calibri"/>
                        </a:rPr>
                        <a:t>Genetics (APOE)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latin typeface="Calibri"/>
                        </a:rPr>
                        <a:t>0.645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latin typeface="Calibri"/>
                        </a:rPr>
                        <a:t>+0.003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latin typeface="Calibri"/>
                        </a:rPr>
                        <a:t>+0.001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latin typeface="Calibri"/>
                        </a:rPr>
                        <a:t>Cardiovascular / medical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latin typeface="Calibri"/>
                        </a:rPr>
                        <a:t>0.626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latin typeface="Calibri"/>
                        </a:rPr>
                        <a:t>+0.001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latin typeface="Calibri"/>
                        </a:rPr>
                        <a:t>+0.001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0"/>
            <a:ext cx="11551615" cy="7315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FFFFFF"/>
                </a:solidFill>
                <a:latin typeface="Calibri"/>
              </a:rPr>
              <a:t>The cardiovascular question (RQ2)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46520"/>
            <a:ext cx="109728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14 / 27</a:t>
            </a:r>
          </a:p>
        </p:txBody>
      </p:sp>
      <p:pic>
        <p:nvPicPr>
          <p:cNvPr id="5" name="Picture 4" descr="09_hazard_rati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5943600" cy="29748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0" y="1005840"/>
            <a:ext cx="5212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B2A4A"/>
                </a:solidFill>
                <a:latin typeface="Calibri"/>
              </a:rPr>
              <a:t>•  </a:t>
            </a:r>
            <a:r>
              <a:rPr sz="1600" b="0">
                <a:latin typeface="Calibri"/>
              </a:rPr>
              <a:t>Alone: AUROC </a:t>
            </a:r>
            <a:r>
              <a:rPr sz="1600" b="1">
                <a:latin typeface="Calibri"/>
              </a:rPr>
              <a:t>0.626</a:t>
            </a:r>
            <a:r>
              <a:rPr sz="1600" b="0">
                <a:latin typeface="Calibri"/>
              </a:rPr>
              <a:t>; before cognition: +0.024 (test), +0.004 (held-out).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B2A4A"/>
                </a:solidFill>
                <a:latin typeface="Calibri"/>
              </a:rPr>
              <a:t>•  </a:t>
            </a:r>
            <a:r>
              <a:rPr sz="1600" b="0">
                <a:latin typeface="Calibri"/>
              </a:rPr>
              <a:t>After cognition: +0.001 for dementia, +0.0004 for CDR-SB decline.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B2A4A"/>
                </a:solidFill>
                <a:latin typeface="Calibri"/>
              </a:rPr>
              <a:t>•  </a:t>
            </a:r>
            <a:r>
              <a:rPr sz="1600" b="0">
                <a:latin typeface="Calibri"/>
              </a:rPr>
              <a:t>Cox model: hypertension HR 0.995, diabetes and stroke ≈ 1.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0" y="3566160"/>
            <a:ext cx="5212080" cy="384048"/>
          </a:xfrm>
          <a:prstGeom prst="rect">
            <a:avLst/>
          </a:prstGeom>
          <a:solidFill>
            <a:srgbClr val="0E72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3566160"/>
            <a:ext cx="5212080" cy="38404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Interpretation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0" y="3950208"/>
            <a:ext cx="5212080" cy="1444752"/>
          </a:xfrm>
          <a:prstGeom prst="rect">
            <a:avLst/>
          </a:prstGeom>
          <a:solidFill>
            <a:srgbClr val="E8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3986784"/>
            <a:ext cx="5212080" cy="1408176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Limited incremental value in this cohort, not evidence that vascular health is unimportant: median age 71, midlife exposure unobserved, and past damage already shows in the cognitive scores.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0"/>
            <a:ext cx="11551615" cy="7315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FFFFFF"/>
                </a:solidFill>
                <a:latin typeface="Calibri"/>
              </a:rPr>
              <a:t>Explainability: Shapley values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46520"/>
            <a:ext cx="109728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15 / 27</a:t>
            </a:r>
          </a:p>
        </p:txBody>
      </p:sp>
      <p:pic>
        <p:nvPicPr>
          <p:cNvPr id="5" name="Picture 4" descr="07_shap_feat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6949440" cy="331133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98079" y="914400"/>
            <a:ext cx="429768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f(x) = φ₀ + Σⱼ φⱼ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680960" y="1463040"/>
          <a:ext cx="3931920" cy="230428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77440"/>
                <a:gridCol w="155448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latin typeface="Calibri"/>
                        </a:rPr>
                        <a:t>Category</a:t>
                      </a:r>
                    </a:p>
                  </a:txBody>
                  <a:tcPr marT="27432" marB="27432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latin typeface="Calibri"/>
                        </a:rPr>
                        <a:t>SHAP share</a:t>
                      </a:r>
                    </a:p>
                  </a:txBody>
                  <a:tcPr marT="27432" marB="27432">
                    <a:solidFill>
                      <a:srgbClr val="F2F4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latin typeface="Calibri"/>
                        </a:rPr>
                        <a:t>Clinical stage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latin typeface="Calibri"/>
                        </a:rPr>
                        <a:t>40.8%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latin typeface="Calibri"/>
                        </a:rPr>
                        <a:t>Cognitive tests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latin typeface="Calibri"/>
                        </a:rPr>
                        <a:t>35.0%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latin typeface="Calibri"/>
                        </a:rPr>
                        <a:t>Demographics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latin typeface="Calibri"/>
                        </a:rPr>
                        <a:t>15.5%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latin typeface="Calibri"/>
                        </a:rPr>
                        <a:t>Cardiovascular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latin typeface="Calibri"/>
                        </a:rPr>
                        <a:t>5.1%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latin typeface="Calibri"/>
                        </a:rPr>
                        <a:t>Genetics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latin typeface="Calibri"/>
                        </a:rPr>
                        <a:t>3.5%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498079" y="3950208"/>
            <a:ext cx="4297680" cy="16459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Stable over 8 refits (Spearman 0.89–0.97). Low BMI raises risk: weight loss before diagnosis, not causal.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0"/>
            <a:ext cx="11551615" cy="7315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FFFFFF"/>
                </a:solidFill>
                <a:latin typeface="Calibri"/>
              </a:rPr>
              <a:t>Cognitive decline as the outcome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46520"/>
            <a:ext cx="109728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16 / 27</a:t>
            </a:r>
          </a:p>
        </p:txBody>
      </p:sp>
      <p:pic>
        <p:nvPicPr>
          <p:cNvPr id="5" name="Picture 4" descr="decline_vs_dement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0" y="868680"/>
            <a:ext cx="8686800" cy="320439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4164516"/>
            <a:ext cx="5486400" cy="384048"/>
          </a:xfrm>
          <a:prstGeom prst="rect">
            <a:avLst/>
          </a:prstGeom>
          <a:solidFill>
            <a:srgbClr val="0E72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164516"/>
            <a:ext cx="5486400" cy="38404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CDR-SB rise ≥ 1 (20,355 / 5,035 events)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548564"/>
            <a:ext cx="5486400" cy="1124712"/>
          </a:xfrm>
          <a:prstGeom prst="rect">
            <a:avLst/>
          </a:prstGeom>
          <a:solidFill>
            <a:srgbClr val="E8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585140"/>
            <a:ext cx="5486400" cy="1088136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AUROC 0.858 test, 0.885 held-out; normal 0.76–0.83 with 129 and 215 events, so more reliable than the dementia estimate for normal cognition.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4164516"/>
            <a:ext cx="5486400" cy="384048"/>
          </a:xfrm>
          <a:prstGeom prst="rect">
            <a:avLst/>
          </a:prstGeom>
          <a:solidFill>
            <a:srgbClr val="0E72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4164516"/>
            <a:ext cx="5486400" cy="38404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Predicted 3-year CDR-SB change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4548564"/>
            <a:ext cx="5486400" cy="1124712"/>
          </a:xfrm>
          <a:prstGeom prst="rect">
            <a:avLst/>
          </a:prstGeom>
          <a:solidFill>
            <a:srgbClr val="E8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4585140"/>
            <a:ext cx="5486400" cy="1088136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MAE 0.69 → 0.60 (test), 0.82 → 0.72 (held-out); MCI 1.90 → 1.59; normal 0.17 = 0.17, no gain.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0"/>
            <a:ext cx="11551615" cy="7315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FFFFFF"/>
                </a:solidFill>
                <a:latin typeface="Calibri"/>
              </a:rPr>
              <a:t>Fusion network: works, but no gain and uninformative attention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46520"/>
            <a:ext cx="109728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17 / 27</a:t>
            </a:r>
          </a:p>
        </p:txBody>
      </p:sp>
      <p:pic>
        <p:nvPicPr>
          <p:cNvPr id="5" name="Picture 4" descr="fusion_atten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6766560" cy="261903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0" y="1005840"/>
          <a:ext cx="4389120" cy="153619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645920"/>
                <a:gridCol w="1371600"/>
                <a:gridCol w="137160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latin typeface="Calibri"/>
                        </a:rPr>
                        <a:t>AUROC</a:t>
                      </a:r>
                    </a:p>
                  </a:txBody>
                  <a:tcPr marT="27432" marB="27432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latin typeface="Calibri"/>
                        </a:rPr>
                        <a:t>Fusion net</a:t>
                      </a:r>
                    </a:p>
                  </a:txBody>
                  <a:tcPr marT="27432" marB="27432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latin typeface="Calibri"/>
                        </a:rPr>
                        <a:t>XGBoost</a:t>
                      </a:r>
                    </a:p>
                  </a:txBody>
                  <a:tcPr marT="27432" marB="27432">
                    <a:solidFill>
                      <a:srgbClr val="F2F4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latin typeface="Calibri"/>
                        </a:rPr>
                        <a:t>Test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latin typeface="Calibri"/>
                        </a:rPr>
                        <a:t>0.934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latin typeface="Calibri"/>
                        </a:rPr>
                        <a:t>0.937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latin typeface="Calibri"/>
                        </a:rPr>
                        <a:t>Held-out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latin typeface="Calibri"/>
                        </a:rPr>
                        <a:t>0.943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latin typeface="Calibri"/>
                        </a:rPr>
                        <a:t>0.946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latin typeface="Calibri"/>
                        </a:rPr>
                        <a:t>MCI (test)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latin typeface="Calibri"/>
                        </a:rPr>
                        <a:t>0.831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latin typeface="Calibri"/>
                        </a:rPr>
                        <a:t>0.835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223760" y="2679192"/>
            <a:ext cx="4572000" cy="9144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Progression head MAE 0.72 → 0.65. Without cognition: AUROC 0.72, Brier 0.114.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0" y="3685032"/>
            <a:ext cx="45720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C62828"/>
                </a:solidFill>
                <a:latin typeface="Calibri"/>
              </a:rPr>
              <a:t>Finding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4069080"/>
            <a:ext cx="4572000" cy="1463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Attention is 18–22% for every modality (uniform = 20%), so it does not explain predictions. SHAP and ablation are used instead.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0"/>
            <a:ext cx="11551615" cy="7315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FFFFFF"/>
                </a:solidFill>
                <a:latin typeface="Calibri"/>
              </a:rPr>
              <a:t>Earlier visits and PET measures (RQ3, RQ5)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46520"/>
            <a:ext cx="109728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18 / 27</a:t>
            </a:r>
          </a:p>
        </p:txBody>
      </p:sp>
      <p:pic>
        <p:nvPicPr>
          <p:cNvPr id="5" name="Picture 4" descr="06_longitud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5577840" cy="139985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65760" y="2588577"/>
            <a:ext cx="5577840" cy="384048"/>
          </a:xfrm>
          <a:prstGeom prst="rect">
            <a:avLst/>
          </a:prstGeom>
          <a:solidFill>
            <a:srgbClr val="0E72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588577"/>
            <a:ext cx="5577840" cy="38404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Visit history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972625"/>
            <a:ext cx="5577840" cy="804672"/>
          </a:xfrm>
          <a:prstGeom prst="rect">
            <a:avLst/>
          </a:prstGeom>
          <a:solidFill>
            <a:srgbClr val="E8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3009201"/>
            <a:ext cx="5577840" cy="768096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Landmark visits with ≥ 2 earlier visits: trajectory features +0.003, GRU +0.000 to +0.005 AUROC.</a:t>
            </a:r>
          </a:p>
        </p:txBody>
      </p:sp>
      <p:pic>
        <p:nvPicPr>
          <p:cNvPr id="10" name="Picture 9" descr="08_conversion_by_amylo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05840"/>
            <a:ext cx="5577840" cy="1721991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217920" y="2910711"/>
            <a:ext cx="5577840" cy="384048"/>
          </a:xfrm>
          <a:prstGeom prst="rect">
            <a:avLst/>
          </a:prstGeom>
          <a:solidFill>
            <a:srgbClr val="0E72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2910711"/>
            <a:ext cx="5577840" cy="38404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Amyloid and tau PET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3294759"/>
            <a:ext cx="5577840" cy="1353312"/>
          </a:xfrm>
          <a:prstGeom prst="rect">
            <a:avLst/>
          </a:prstGeom>
          <a:solidFill>
            <a:srgbClr val="E8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3331335"/>
            <a:ext cx="5577840" cy="1316736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MCI: 34% of amyloid-positive vs 7% of negative convert within 2 years. Late fusion: 0.964 vs 0.944 on 243 people (33 events); gain interval −0.009 to +0.066 includes zero.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0"/>
            <a:ext cx="11551615" cy="7315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FFFFFF"/>
                </a:solidFill>
                <a:latin typeface="Calibri"/>
              </a:rPr>
              <a:t>08 | PET Image Pipeline: From DICOM to SUVR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46520"/>
            <a:ext cx="109728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19 / 27</a:t>
            </a:r>
          </a:p>
        </p:txBody>
      </p:sp>
      <p:pic>
        <p:nvPicPr>
          <p:cNvPr id="5" name="Picture 4" descr="11_group_average_im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5852160" cy="42886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5221383"/>
            <a:ext cx="548640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Group averages only (318 amyloid, 232 tau, 49 FDG scans).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914400"/>
            <a:ext cx="53035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9C1D55"/>
                </a:solidFill>
                <a:latin typeface="Calibri"/>
              </a:rPr>
              <a:t>1.  </a:t>
            </a:r>
            <a:r>
              <a:rPr sz="1500" b="1">
                <a:latin typeface="Calibri"/>
              </a:rPr>
              <a:t>Convert: </a:t>
            </a:r>
            <a:r>
              <a:rPr sz="1500" b="0">
                <a:latin typeface="Calibri"/>
              </a:rPr>
              <a:t>599 dynamic DICOM series → static volume, V = Σ dₖVₖ / Σ dₖ over the standard window.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9C1D55"/>
                </a:solidFill>
                <a:latin typeface="Calibri"/>
              </a:rPr>
              <a:t>2.  </a:t>
            </a:r>
            <a:r>
              <a:rPr sz="1500" b="1">
                <a:latin typeface="Calibri"/>
              </a:rPr>
              <a:t>Register: </a:t>
            </a:r>
            <a:r>
              <a:rPr sz="1500" b="0">
                <a:latin typeface="Calibri"/>
              </a:rPr>
              <a:t>rigid to MNI152, then 12-parameter affine to a study PET template (Mattes mutual information).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9C1D55"/>
                </a:solidFill>
                <a:latin typeface="Calibri"/>
              </a:rPr>
              <a:t>3.  </a:t>
            </a:r>
            <a:r>
              <a:rPr sz="1500" b="1">
                <a:latin typeface="Calibri"/>
              </a:rPr>
              <a:t>Quantify: </a:t>
            </a:r>
            <a:r>
              <a:rPr sz="1500" b="0">
                <a:latin typeface="Calibri"/>
              </a:rPr>
              <a:t>Centiloid masks, SUVR = mean cortex / mean cerebellum.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92240" y="4114800"/>
            <a:ext cx="5303520" cy="384048"/>
          </a:xfrm>
          <a:prstGeom prst="rect">
            <a:avLst/>
          </a:prstGeom>
          <a:solidFill>
            <a:srgbClr val="0E72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4114800"/>
            <a:ext cx="5303520" cy="38404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Validation against the NACC PET core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4498848"/>
            <a:ext cx="5303520" cy="804672"/>
          </a:xfrm>
          <a:prstGeom prst="rect">
            <a:avLst/>
          </a:prstGeom>
          <a:solidFill>
            <a:srgbClr val="E8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4535424"/>
            <a:ext cx="5303520" cy="768096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Pearson r = </a:t>
            </a:r>
            <a:r>
              <a:rPr sz="1500" b="1">
                <a:solidFill>
                  <a:srgbClr val="000000"/>
                </a:solidFill>
                <a:latin typeface="Calibri"/>
              </a:rPr>
              <a:t>0.977</a:t>
            </a:r>
            <a:r>
              <a:rPr sz="1500" b="0">
                <a:solidFill>
                  <a:srgbClr val="000000"/>
                </a:solidFill>
                <a:latin typeface="Calibri"/>
              </a:rPr>
              <a:t> over 318 scans (0.96–0.99 per tracer); mean difference −0.043.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0"/>
            <a:ext cx="11551615" cy="7315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FFFFFF"/>
                </a:solidFill>
                <a:latin typeface="Calibri"/>
              </a:rPr>
              <a:t>3D CNN for amyloid status and Grad-CAM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46520"/>
            <a:ext cx="109728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20 / 27</a:t>
            </a:r>
          </a:p>
        </p:txBody>
      </p:sp>
      <p:pic>
        <p:nvPicPr>
          <p:cNvPr id="5" name="Picture 4" descr="11_gradcam_m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5943600" cy="428424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0" y="914400"/>
          <a:ext cx="5212080" cy="153619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931920"/>
                <a:gridCol w="128016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latin typeface="Calibri"/>
                        </a:rPr>
                        <a:t>Method (292 scans, 84 positive)</a:t>
                      </a:r>
                    </a:p>
                  </a:txBody>
                  <a:tcPr marT="27432" marB="27432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latin typeface="Calibri"/>
                        </a:rPr>
                        <a:t>AUROC</a:t>
                      </a:r>
                    </a:p>
                  </a:txBody>
                  <a:tcPr marT="27432" marB="27432">
                    <a:solidFill>
                      <a:srgbClr val="F2F4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latin typeface="Calibri"/>
                        </a:rPr>
                        <a:t>Cortical SUVR (one number)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latin typeface="Calibri"/>
                        </a:rPr>
                        <a:t>0.982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latin typeface="Calibri"/>
                        </a:rPr>
                        <a:t>Regional logistic model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latin typeface="Calibri"/>
                        </a:rPr>
                        <a:t>0.971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latin typeface="Calibri"/>
                        </a:rPr>
                        <a:t>3D CNN (494,917 weights)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latin typeface="Calibri"/>
                        </a:rPr>
                        <a:t>0.960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583680" y="2724911"/>
            <a:ext cx="5212080" cy="384048"/>
          </a:xfrm>
          <a:prstGeom prst="rect">
            <a:avLst/>
          </a:prstGeom>
          <a:solidFill>
            <a:srgbClr val="0E72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2724911"/>
            <a:ext cx="5212080" cy="38404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Interpretation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0" y="3108959"/>
            <a:ext cx="5212080" cy="896112"/>
          </a:xfrm>
          <a:prstGeom prst="rect">
            <a:avLst/>
          </a:prstGeom>
          <a:solidFill>
            <a:srgbClr val="E8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3145535"/>
            <a:ext cx="5212080" cy="859536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The pipeline supports a working image model, but the label is itself derived from cortical SUVR, so one number is hard to beat.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4187951"/>
            <a:ext cx="521208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C62828"/>
                </a:solidFill>
                <a:latin typeface="Calibri"/>
              </a:rPr>
              <a:t>Limitation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571999"/>
            <a:ext cx="5212080" cy="16459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Grad-CAM was diffuse (1.7% of top voxels in the cortical region vs 3.8% by chance), and only 5 imaged people converted, so images were not used to predict dementia.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0"/>
            <a:ext cx="11551615" cy="7315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FFFFFF"/>
                </a:solidFill>
                <a:latin typeface="Calibri"/>
              </a:rPr>
              <a:t>09 | Validation: Calibration, Usefulness, Missing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46520"/>
            <a:ext cx="109728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21 / 27</a:t>
            </a:r>
          </a:p>
        </p:txBody>
      </p:sp>
      <p:pic>
        <p:nvPicPr>
          <p:cNvPr id="5" name="Picture 4" descr="09_decision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5669280" cy="179588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2801721"/>
            <a:ext cx="5669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B2A4A"/>
                </a:solidFill>
                <a:latin typeface="Calibri"/>
              </a:rPr>
              <a:t>•  </a:t>
            </a:r>
            <a:r>
              <a:rPr sz="1500" b="0">
                <a:latin typeface="Calibri"/>
              </a:rPr>
              <a:t>Test: predicted 14.5% = observed 14.5%, slope 1.01.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B2A4A"/>
                </a:solidFill>
                <a:latin typeface="Calibri"/>
              </a:rPr>
              <a:t>•  </a:t>
            </a:r>
            <a:r>
              <a:rPr sz="1500" b="0">
                <a:latin typeface="Calibri"/>
              </a:rPr>
              <a:t>Held-out: 15.0% vs 13.4%, slope 1.10.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B2A4A"/>
                </a:solidFill>
                <a:latin typeface="Calibri"/>
              </a:rPr>
              <a:t>•  </a:t>
            </a:r>
            <a:r>
              <a:rPr sz="1500" b="0">
                <a:latin typeface="Calibri"/>
              </a:rPr>
              <a:t>At 20% risk: sensitivity 83%, specificity 88%, NPV 97%.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B2A4A"/>
                </a:solidFill>
                <a:latin typeface="Calibri"/>
              </a:rPr>
              <a:t>•  </a:t>
            </a:r>
            <a:r>
              <a:rPr sz="1500" b="0">
                <a:latin typeface="Calibri"/>
              </a:rPr>
              <a:t>Net benefit above treat-all and treat-none from 2% to 60%.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309360" y="914400"/>
          <a:ext cx="5486400" cy="19202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94560"/>
                <a:gridCol w="1097280"/>
                <a:gridCol w="1097280"/>
                <a:gridCol w="109728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latin typeface="Calibri"/>
                        </a:rPr>
                        <a:t>Brier score</a:t>
                      </a:r>
                    </a:p>
                  </a:txBody>
                  <a:tcPr marT="27432" marB="27432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latin typeface="Calibri"/>
                        </a:rPr>
                        <a:t>Standard</a:t>
                      </a:r>
                    </a:p>
                  </a:txBody>
                  <a:tcPr marT="27432" marB="27432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latin typeface="Calibri"/>
                        </a:rPr>
                        <a:t>Dropout</a:t>
                      </a:r>
                    </a:p>
                  </a:txBody>
                  <a:tcPr marT="27432" marB="27432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latin typeface="Calibri"/>
                        </a:rPr>
                        <a:t>Specialist</a:t>
                      </a:r>
                    </a:p>
                  </a:txBody>
                  <a:tcPr marT="27432" marB="27432">
                    <a:solidFill>
                      <a:srgbClr val="F2F4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latin typeface="Calibri"/>
                        </a:rPr>
                        <a:t>Everything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latin typeface="Calibri"/>
                        </a:rPr>
                        <a:t>0.066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latin typeface="Calibri"/>
                        </a:rPr>
                        <a:t>0.067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latin typeface="Calibri"/>
                        </a:rPr>
                        <a:t>0.066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latin typeface="Calibri"/>
                        </a:rPr>
                        <a:t>No clinical stage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latin typeface="Calibri"/>
                        </a:rPr>
                        <a:t>0.185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latin typeface="Calibri"/>
                        </a:rPr>
                        <a:t>0.076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latin typeface="Calibri"/>
                        </a:rPr>
                        <a:t>0.074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latin typeface="Calibri"/>
                        </a:rPr>
                        <a:t>No cognition at all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latin typeface="Calibri"/>
                        </a:rPr>
                        <a:t>0.441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latin typeface="Calibri"/>
                        </a:rPr>
                        <a:t>0.115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latin typeface="Calibri"/>
                        </a:rPr>
                        <a:t>0.111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latin typeface="Calibri"/>
                        </a:rPr>
                        <a:t>Demographics only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latin typeface="Calibri"/>
                        </a:rPr>
                        <a:t>0.444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latin typeface="Calibri"/>
                        </a:rPr>
                        <a:t>0.120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latin typeface="Calibri"/>
                        </a:rPr>
                        <a:t>0.118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309360" y="3108960"/>
            <a:ext cx="5486400" cy="384048"/>
          </a:xfrm>
          <a:prstGeom prst="rect">
            <a:avLst/>
          </a:prstGeom>
          <a:solidFill>
            <a:srgbClr val="0E72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3108960"/>
            <a:ext cx="5486400" cy="38404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Modality dropout (p = 0.35)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3493008"/>
            <a:ext cx="5486400" cy="896112"/>
          </a:xfrm>
          <a:prstGeom prst="rect">
            <a:avLst/>
          </a:prstGeom>
          <a:solidFill>
            <a:srgbClr val="E8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3529584"/>
            <a:ext cx="5486400" cy="859536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One model stays close to a specialist retrained for each missing pattern; a standard model becomes worse than the base rate.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0"/>
            <a:ext cx="11551615" cy="7315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FFFFFF"/>
                </a:solidFill>
                <a:latin typeface="Calibri"/>
              </a:rPr>
              <a:t>10 | Research Prototype for Clinicians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46520"/>
            <a:ext cx="109728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22 / 27</a:t>
            </a:r>
          </a:p>
        </p:txBody>
      </p:sp>
      <p:pic>
        <p:nvPicPr>
          <p:cNvPr id="5" name="Picture 4" descr="app_estim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868680"/>
            <a:ext cx="3397267" cy="5577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60720" y="1005840"/>
            <a:ext cx="6035040" cy="8229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00000"/>
                </a:solidFill>
                <a:latin typeface="Calibri"/>
              </a:rPr>
              <a:t>Example: </a:t>
            </a:r>
            <a:r>
              <a:rPr sz="1600" b="0">
                <a:solidFill>
                  <a:srgbClr val="000000"/>
                </a:solidFill>
                <a:latin typeface="Calibri"/>
              </a:rPr>
              <a:t>72-year-old woman, 16 years of education, MCI, CDR-SB 2, MoCA 21.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0" y="1920240"/>
            <a:ext cx="6035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B2A4A"/>
                </a:solidFill>
                <a:latin typeface="Calibri"/>
              </a:rPr>
              <a:t>•  </a:t>
            </a:r>
            <a:r>
              <a:rPr sz="1600" b="0">
                <a:latin typeface="Calibri"/>
              </a:rPr>
              <a:t>FastAPI + React; form generated from the 48 trained features.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B2A4A"/>
                </a:solidFill>
                <a:latin typeface="Calibri"/>
              </a:rPr>
              <a:t>•  </a:t>
            </a:r>
            <a:r>
              <a:rPr sz="1600" b="0">
                <a:latin typeface="Calibri"/>
              </a:rPr>
              <a:t>Risk shown next to the observed rate of similar people (39% vs 40%), with SHAP by category.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B2A4A"/>
                </a:solidFill>
                <a:latin typeface="Calibri"/>
              </a:rPr>
              <a:t>•  </a:t>
            </a:r>
            <a:r>
              <a:rPr sz="1600" b="0">
                <a:latin typeface="Calibri"/>
              </a:rPr>
              <a:t>Plausibility checks flag contradictory entries.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B2A4A"/>
                </a:solidFill>
                <a:latin typeface="Calibri"/>
              </a:rPr>
              <a:t>•  </a:t>
            </a:r>
            <a:r>
              <a:rPr sz="1600" b="0">
                <a:latin typeface="Calibri"/>
              </a:rPr>
              <a:t>Plain-language report with quoted evidence.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B2A4A"/>
                </a:solidFill>
                <a:latin typeface="Calibri"/>
              </a:rPr>
              <a:t>•  </a:t>
            </a:r>
            <a:r>
              <a:rPr sz="1600" b="0">
                <a:latin typeface="Calibri"/>
              </a:rPr>
              <a:t>27 of 28 behaviour checks pass; MCI under 65 over-predicted (35% vs 27%).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0"/>
            <a:ext cx="11551615" cy="7315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FFFFFF"/>
                </a:solidFill>
                <a:latin typeface="Calibri"/>
              </a:rPr>
              <a:t>Plain-language report for the same patient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46520"/>
            <a:ext cx="109728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23 / 27</a:t>
            </a:r>
          </a:p>
        </p:txBody>
      </p:sp>
      <p:pic>
        <p:nvPicPr>
          <p:cNvPr id="5" name="Picture 4" descr="app_re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868680"/>
            <a:ext cx="3997989" cy="5577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0" y="1005840"/>
            <a:ext cx="67665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9C1D55"/>
                </a:solidFill>
                <a:latin typeface="Calibri"/>
              </a:rPr>
              <a:t>1.  </a:t>
            </a:r>
            <a:r>
              <a:rPr sz="1600" b="1">
                <a:latin typeface="Calibri"/>
              </a:rPr>
              <a:t>Summary: </a:t>
            </a:r>
            <a:r>
              <a:rPr sz="1600" b="0">
                <a:latin typeface="Calibri"/>
              </a:rPr>
              <a:t>risk next to the observed rate of similar people.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9C1D55"/>
                </a:solidFill>
                <a:latin typeface="Calibri"/>
              </a:rPr>
              <a:t>2.  </a:t>
            </a:r>
            <a:r>
              <a:rPr sz="1600" b="1">
                <a:latin typeface="Calibri"/>
              </a:rPr>
              <a:t>Main reasons: </a:t>
            </a:r>
            <a:r>
              <a:rPr sz="1600" b="0">
                <a:latin typeface="Calibri"/>
              </a:rPr>
              <a:t>largest SHAP contributions in plain words.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9C1D55"/>
                </a:solidFill>
                <a:latin typeface="Calibri"/>
              </a:rPr>
              <a:t>3.  </a:t>
            </a:r>
            <a:r>
              <a:rPr sz="1600" b="1">
                <a:latin typeface="Calibri"/>
              </a:rPr>
              <a:t>Reliability: </a:t>
            </a:r>
            <a:r>
              <a:rPr sz="1600" b="0">
                <a:latin typeface="Calibri"/>
              </a:rPr>
              <a:t>missing categories and plausibility warnings.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9C1D55"/>
                </a:solidFill>
                <a:latin typeface="Calibri"/>
              </a:rPr>
              <a:t>4.  </a:t>
            </a:r>
            <a:r>
              <a:rPr sz="1600" b="1">
                <a:latin typeface="Calibri"/>
              </a:rPr>
              <a:t>Published evidence: </a:t>
            </a:r>
            <a:r>
              <a:rPr sz="1600" b="0">
                <a:latin typeface="Calibri"/>
              </a:rPr>
              <a:t>quoted passages with their source.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9C1D55"/>
                </a:solidFill>
                <a:latin typeface="Calibri"/>
              </a:rPr>
              <a:t>5.  </a:t>
            </a:r>
            <a:r>
              <a:rPr sz="1600" b="1">
                <a:latin typeface="Calibri"/>
              </a:rPr>
              <a:t>Limits: </a:t>
            </a:r>
            <a:r>
              <a:rPr sz="1600" b="0">
                <a:latin typeface="Calibri"/>
              </a:rPr>
              <a:t>fixed statement that it is not a diagnosis.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4297680"/>
            <a:ext cx="6766560" cy="384048"/>
          </a:xfrm>
          <a:prstGeom prst="rect">
            <a:avLst/>
          </a:prstGeom>
          <a:solidFill>
            <a:srgbClr val="0E72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0" y="4297680"/>
            <a:ext cx="6766560" cy="38404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Design choice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4681728"/>
            <a:ext cx="6766560" cy="896112"/>
          </a:xfrm>
          <a:prstGeom prst="rect">
            <a:avLst/>
          </a:prstGeom>
          <a:solidFill>
            <a:srgbClr val="E8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4718304"/>
            <a:ext cx="6766560" cy="859536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Templates are filled with the person's own numbers and evidence is quoted, so the report cannot state anything the model or the literature did not provide.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0"/>
            <a:ext cx="11551615" cy="7315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FFFFFF"/>
                </a:solidFill>
                <a:latin typeface="Calibri"/>
              </a:rPr>
              <a:t>Evidence assistant (retrieval-augmented generation)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46520"/>
            <a:ext cx="109728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24 / 27</a:t>
            </a:r>
          </a:p>
        </p:txBody>
      </p:sp>
      <p:pic>
        <p:nvPicPr>
          <p:cNvPr id="5" name="Picture 4" descr="app_a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868680"/>
            <a:ext cx="9601200" cy="27397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791356"/>
            <a:ext cx="5669280" cy="20116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s_RRF(d) = 1/(60 + rank_sem(d)) + 1/(60 + rank_BM25(d))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MiniLM embeddings + BM25 (k₁ = 1.5, b = 0.75), merged by rank fusion. Below similarity 0.35 the assistant says the library has no evidence.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0" y="3791356"/>
          <a:ext cx="5303520" cy="17373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023360"/>
                <a:gridCol w="1280160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latin typeface="Calibri"/>
                        </a:rPr>
                        <a:t>Test (11 papers, 447 passages)</a:t>
                      </a:r>
                    </a:p>
                  </a:txBody>
                  <a:tcPr marT="27432" marB="27432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latin typeface="Calibri"/>
                        </a:rPr>
                        <a:t>Result</a:t>
                      </a:r>
                    </a:p>
                  </a:txBody>
                  <a:tcPr marT="27432" marB="27432">
                    <a:solidFill>
                      <a:srgbClr val="F2F4F7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latin typeface="Calibri"/>
                        </a:rPr>
                        <a:t>Correct source first: hybrid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latin typeface="Calibri"/>
                        </a:rPr>
                        <a:t>32 / 32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latin typeface="Calibri"/>
                        </a:rPr>
                        <a:t>   embeddings only / BM25 only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latin typeface="Calibri"/>
                        </a:rPr>
                        <a:t>28 / 31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latin typeface="Calibri"/>
                        </a:rPr>
                        <a:t>Personal-advice questions flagged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latin typeface="Calibri"/>
                        </a:rPr>
                        <a:t>8 / 8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latin typeface="Calibri"/>
                        </a:rPr>
                        <a:t>Out-of-scope questions declined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latin typeface="Calibri"/>
                        </a:rPr>
                        <a:t>6 / 6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0"/>
            <a:ext cx="11551615" cy="7315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FFFFFF"/>
                </a:solidFill>
                <a:latin typeface="Calibri"/>
              </a:rPr>
              <a:t>11 | Independent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46520"/>
            <a:ext cx="109728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25 / 27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960120"/>
          <a:ext cx="11247120" cy="28803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6400800"/>
                <a:gridCol w="4846320"/>
              </a:tblGrid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latin typeface="Calibri"/>
                        </a:rPr>
                        <a:t>Check</a:t>
                      </a:r>
                    </a:p>
                  </a:txBody>
                  <a:tcPr marT="27432" marB="27432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latin typeface="Calibri"/>
                        </a:rPr>
                        <a:t>Result</a:t>
                      </a:r>
                    </a:p>
                  </a:txBody>
                  <a:tcPr marT="27432" marB="27432">
                    <a:solidFill>
                      <a:srgbClr val="F2F4F7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latin typeface="Calibri"/>
                        </a:rPr>
                        <a:t>No person or held-out centre in more than one partition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latin typeface="Calibri"/>
                        </a:rPr>
                        <a:t>0 shared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latin typeface="Calibri"/>
                        </a:rPr>
                        <a:t>Features unchanged when all later visits are deleted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latin typeface="Calibri"/>
                        </a:rPr>
                        <a:t>Identical for 1,500 people × 67 features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latin typeface="Calibri"/>
                        </a:rPr>
                        <a:t>No PET value newer than the visit that uses it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latin typeface="Calibri"/>
                        </a:rPr>
                        <a:t>0 of 1,481 amyloid, 713 tau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latin typeface="Calibri"/>
                        </a:rPr>
                        <a:t>Labels recomputed independently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latin typeface="Calibri"/>
                        </a:rPr>
                        <a:t>0 disagreements in 11,403 visits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latin typeface="Calibri"/>
                        </a:rPr>
                        <a:t>Shuffled labels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latin typeface="Calibri"/>
                        </a:rPr>
                        <a:t>AUROC 0.508 (chance)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latin typeface="Calibri"/>
                        </a:rPr>
                        <a:t>Retrain with a new seed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latin typeface="Calibri"/>
                        </a:rPr>
                        <a:t>0.937 / 0.946 (reported 0.938 / 0.946)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4114800"/>
            <a:ext cx="11247120" cy="384048"/>
          </a:xfrm>
          <a:prstGeom prst="rect">
            <a:avLst/>
          </a:prstGeom>
          <a:solidFill>
            <a:srgbClr val="0E72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11247120" cy="38404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Errors the checks found and we fixed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498848"/>
            <a:ext cx="11247120" cy="850392"/>
          </a:xfrm>
          <a:prstGeom prst="rect">
            <a:avLst/>
          </a:prstGeom>
          <a:solidFill>
            <a:srgbClr val="E8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535424"/>
            <a:ext cx="11247120" cy="813816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Education and race filled from a later visit (0.1% of people); PET scans matched to visits weeks before the scan. After fixing, every model was retrained: results moved only in the third decimal. </a:t>
            </a:r>
            <a:r>
              <a:rPr sz="1500" b="1">
                <a:solidFill>
                  <a:srgbClr val="000000"/>
                </a:solidFill>
                <a:latin typeface="Calibri"/>
              </a:rPr>
              <a:t>17 of 17 checks pass.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0"/>
            <a:ext cx="11551615" cy="7315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FFFFFF"/>
                </a:solidFill>
                <a:latin typeface="Calibri"/>
              </a:rPr>
              <a:t>Synthesis: what each research question found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46520"/>
            <a:ext cx="109728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26 / 27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960120"/>
          <a:ext cx="11247119" cy="343814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291840"/>
                <a:gridCol w="7955279"/>
              </a:tblGrid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latin typeface="Calibri"/>
                        </a:rPr>
                        <a:t>Research question</a:t>
                      </a:r>
                    </a:p>
                  </a:txBody>
                  <a:tcPr marT="27432" marB="27432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latin typeface="Calibri"/>
                        </a:rPr>
                        <a:t>Answer and evidence</a:t>
                      </a:r>
                    </a:p>
                  </a:txBody>
                  <a:tcPr marT="27432" marB="27432">
                    <a:solidFill>
                      <a:srgbClr val="F2F4F7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latin typeface="Calibri"/>
                        </a:rPr>
                        <a:t>RQ1 Prediction accuracy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latin typeface="Calibri"/>
                        </a:rPr>
                        <a:t>Dementia 0.94 (0.84 in MCI); decline 0.86 (0.75 in MCI); change regression helps MCI only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latin typeface="Calibri"/>
                        </a:rPr>
                        <a:t>RQ2 Cardiovascular history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latin typeface="Calibri"/>
                        </a:rPr>
                        <a:t>+0.001 AUROC once cognition is known; Cox agrees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latin typeface="Calibri"/>
                        </a:rPr>
                        <a:t>RQ3 Amyloid and tau PET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latin typeface="Calibri"/>
                        </a:rPr>
                        <a:t>Strong association, no demonstrable gain with current follow-up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latin typeface="Calibri"/>
                        </a:rPr>
                        <a:t>RQ4 Deep models / fusion net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latin typeface="Calibri"/>
                        </a:rPr>
                        <a:t>No gain over logistic regression or XGBoost; attention uniform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latin typeface="Calibri"/>
                        </a:rPr>
                        <a:t>RQ5 Earlier visits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latin typeface="Calibri"/>
                        </a:rPr>
                        <a:t>+0.000 to +0.005 AUROC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latin typeface="Calibri"/>
                        </a:rPr>
                        <a:t>RQ6 Missing categories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latin typeface="Calibri"/>
                        </a:rPr>
                        <a:t>Modality dropout keeps calibration close to specialist models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latin typeface="Calibri"/>
                        </a:rPr>
                        <a:t>RQ7 Explanation and evidence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latin typeface="Calibri"/>
                        </a:rPr>
                        <a:t>SHAP, plausibility checks, report with quoted published evidence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4672583"/>
            <a:ext cx="11247120" cy="384048"/>
          </a:xfrm>
          <a:prstGeom prst="rect">
            <a:avLst/>
          </a:prstGeom>
          <a:solidFill>
            <a:srgbClr val="0E72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672583"/>
            <a:ext cx="11247120" cy="38404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Final takeaway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056631"/>
            <a:ext cx="11247120" cy="576072"/>
          </a:xfrm>
          <a:prstGeom prst="rect">
            <a:avLst/>
          </a:prstGeom>
          <a:solidFill>
            <a:srgbClr val="E8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093207"/>
            <a:ext cx="11247120" cy="539496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How a person is functioning today carries most of the three-year signal; decades of vascular and genetic history leave their trace in that measurement rather than adding to it.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0"/>
            <a:ext cx="11551615" cy="7315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FFFFFF"/>
                </a:solidFill>
                <a:latin typeface="Calibri"/>
              </a:rPr>
              <a:t>Limitations, Future Work and Final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46520"/>
            <a:ext cx="109728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27 / 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1155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B2A4A"/>
                </a:solidFill>
                <a:latin typeface="Calibri"/>
              </a:rPr>
              <a:t>•  </a:t>
            </a:r>
            <a:r>
              <a:rPr sz="1600" b="0">
                <a:latin typeface="Calibri"/>
              </a:rPr>
              <a:t>Held-out centres are site-level validation within NACC; external and temporal validation on another cohort is the next step.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B2A4A"/>
                </a:solidFill>
                <a:latin typeface="Calibri"/>
              </a:rPr>
              <a:t>•  </a:t>
            </a:r>
            <a:r>
              <a:rPr sz="1600" b="0">
                <a:latin typeface="Calibri"/>
              </a:rPr>
              <a:t>NACC is a research cohort, mostly White and highly educated; about half of eligible people lacked a 3-year outcome (Cox check agrees).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B2A4A"/>
                </a:solidFill>
                <a:latin typeface="Calibri"/>
              </a:rPr>
              <a:t>•  </a:t>
            </a:r>
            <a:r>
              <a:rPr sz="1600" b="0">
                <a:latin typeface="Calibri"/>
              </a:rPr>
              <a:t>Only 24 and 37 cognitively normal converters in test and held-out sets; a dedicated 5- to 10-year model for normal cognition is needed.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B2A4A"/>
                </a:solidFill>
                <a:latin typeface="Calibri"/>
              </a:rPr>
              <a:t>•  </a:t>
            </a:r>
            <a:r>
              <a:rPr sz="1600" b="0">
                <a:latin typeface="Calibri"/>
              </a:rPr>
              <a:t>Richer vascular exposure (repeated blood pressure, treatment, small-vessel imaging) may capture what yes/no history misses.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B2A4A"/>
                </a:solidFill>
                <a:latin typeface="Calibri"/>
              </a:rPr>
              <a:t>•  </a:t>
            </a:r>
            <a:r>
              <a:rPr sz="1600" b="0">
                <a:latin typeface="Calibri"/>
              </a:rPr>
              <a:t>PET registration without MRI, tau not quantified; more follow-up will allow a powered PET test.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B2A4A"/>
                </a:solidFill>
                <a:latin typeface="Calibri"/>
              </a:rPr>
              <a:t>•  </a:t>
            </a:r>
            <a:r>
              <a:rPr sz="1600" b="0">
                <a:latin typeface="Calibri"/>
              </a:rPr>
              <a:t>Evidence library of 11 papers and team-written questions; a curated library and stronger local model would help.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074920"/>
            <a:ext cx="11155680" cy="384048"/>
          </a:xfrm>
          <a:prstGeom prst="rect">
            <a:avLst/>
          </a:prstGeom>
          <a:solidFill>
            <a:srgbClr val="0E72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5074920"/>
            <a:ext cx="11155680" cy="38404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Contribution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458968"/>
            <a:ext cx="11155680" cy="576072"/>
          </a:xfrm>
          <a:prstGeom prst="rect">
            <a:avLst/>
          </a:prstGeom>
          <a:solidFill>
            <a:srgbClr val="E8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5495544"/>
            <a:ext cx="11155680" cy="539496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A leakage-free, verified pipeline that measures what each source of information adds, reports results within diagnostic groups, and delivers explainable, evidence-backed estimates.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10972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spcAft>
                <a:spcPts val="400"/>
              </a:spcAft>
            </a:pPr>
            <a:r>
              <a:rPr sz="5400" b="1">
                <a:solidFill>
                  <a:srgbClr val="9C1D55"/>
                </a:solidFill>
                <a:latin typeface="Calibri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62895" cy="5486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0">
                <a:solidFill>
                  <a:srgbClr val="000000"/>
                </a:solidFill>
                <a:latin typeface="Calibri"/>
              </a:rPr>
              <a:t>Questions are welcome.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10362895" cy="9144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Data: National Alzheimer's Coordinating Center (NACC), Freeze 74, used under the NACC data use agreement.</a:t>
            </a:r>
          </a:p>
          <a:p>
            <a:pPr algn="ctr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All results are aggregates.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