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9C1D55"/>
                </a:solidFill>
                <a:latin typeface="Calibri"/>
              </a:rPr>
              <a:t>CardioCog: An Explainable AI Framework for Cognitive Health Assessment and Early Prediction of Cognitive Decline Using Cardiovascular, Genetic, and Clinical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62895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FINAL REVIEW – B.TECH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62895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Team No.: D07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3200400"/>
            <a:ext cx="3566160" cy="1645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Akula Akhil Vighnesh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Vada Gouri Hansika Reddy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Pilli Venkata Bhargav Reddy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Marella Venkata Mahidhar Reddy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3200400"/>
            <a:ext cx="2560320" cy="1645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CB.SC.U4AIE23303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CB.SC.U4AIE23304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CB.SC.U4AIE23329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CB.SC.U4AIE23354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62895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Supervisor: Dr. Manoj Bhat K, Assistant Professor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362895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AMRITA VISHWA VIDYAPEETHAM – SCHOOL OF ARTIFICIAL INTELLIGENCE,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01 | Research Progress: From Proposal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 / 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Research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44168"/>
            <a:ext cx="11247120" cy="85039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0744"/>
            <a:ext cx="11247120" cy="81381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Zeroth review: multimodal framework → first review: 3D amyloid-PET prototype (198 people, 17 events) → full NACC clinical cohort (19,470 people, 2,818 events) → two decline outcomes, five models, fusion network → PET image pipeline, prototype, 17 verification checks.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423160"/>
          <a:ext cx="1124712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8503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Milestone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Evidence and outcome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First-review prototype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3D CNN + cross-attention on amyloid PET: AUROC 0.786 in one run, 0.652 on re-run. Too few events to conclude.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Leakage-free cohort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First visit, not demented, UDS v1–3; person-level split with 9 whole centres held out.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Dementia in 3 years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XGBoost AUROC 0.938 (test), 0.946 (held-out centres); 0.84 within MCI.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Cognitive decline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CDR-SB rise ≥ 1: AUROC 0.858 / 0.885; CDR-SB change regression helps MCI.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Independent checks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17 of 17 checks pass; two future-information errors found and fixed.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02 | Motivation and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 / 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44168"/>
            <a:ext cx="11247120" cy="85039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0744"/>
            <a:ext cx="11247120" cy="81381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Clinics already record cognition, vascular history, genetics and sometimes PET for older adults without dementia, but rarely combine them into one explainable estimate of near-term decline. Which of these sources actually adds information, and can the estimate be trusted?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11247120" cy="8229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For a person without dementia at visit t₀, estimate over the next three years: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p̂_dem = P(dementia | x),     p̂_dec = P(ΔCDR-SB ≥ 1 | x),     Δ̂ = E(ΔCDR-SB | 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1.  </a:t>
            </a:r>
            <a:r>
              <a:rPr sz="1500" b="0">
                <a:latin typeface="Calibri"/>
              </a:rPr>
              <a:t>How accurately can both outcomes be predicted, for normal and MCI groups separately?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2.  </a:t>
            </a:r>
            <a:r>
              <a:rPr sz="1500" b="0">
                <a:latin typeface="Calibri"/>
              </a:rPr>
              <a:t>Does cardiovascular history add to demographics, genetics and current cognition?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3.  </a:t>
            </a:r>
            <a:r>
              <a:rPr sz="1500" b="0">
                <a:latin typeface="Calibri"/>
              </a:rPr>
              <a:t>Do amyloid and tau PET add to the clinical model?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4.  </a:t>
            </a:r>
            <a:r>
              <a:rPr sz="1500" b="0">
                <a:latin typeface="Calibri"/>
              </a:rPr>
              <a:t>Do deep models, including a modality-encoder fusion network, beat classical ones?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5.  </a:t>
            </a:r>
            <a:r>
              <a:rPr sz="1500" b="0">
                <a:latin typeface="Calibri"/>
              </a:rPr>
              <a:t>Do earlier visits help?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6.  </a:t>
            </a:r>
            <a:r>
              <a:rPr sz="1500" b="0">
                <a:latin typeface="Calibri"/>
              </a:rPr>
              <a:t>Can one model cope with whole categories of information missing?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7.  </a:t>
            </a:r>
            <a:r>
              <a:rPr sz="1500" b="0">
                <a:latin typeface="Calibri"/>
              </a:rPr>
              <a:t>Can each estimate be explained and supported with published evidence?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03 | Literature Review and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3 /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47120" cy="34381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51760"/>
                <a:gridCol w="3931920"/>
                <a:gridCol w="466344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Work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latin typeface="Calibri"/>
                        </a:rPr>
                        <a:t>Core method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latin typeface="Calibri"/>
                        </a:rPr>
                        <a:t>Relevance / limitation for CardioCog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latin typeface="Calibri"/>
                        </a:rPr>
                        <a:t>Livingston et al. (2020)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Lancet Commission, 12 modifiable risk factors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Vascular risk matters over the life course; mostly midlife exposure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latin typeface="Calibri"/>
                        </a:rPr>
                        <a:t>Alaka et al. (2025)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CAIDE + heart rate, random forest, NACC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Same database; AUC 0.80–0.91, no within-stage results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latin typeface="Calibri"/>
                        </a:rPr>
                        <a:t>Stern &amp; Linial (2026)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CatBoost on UK Biobank codes + APOE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AUROC 0.773 without cognitive inputs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latin typeface="Calibri"/>
                        </a:rPr>
                        <a:t>Aschwanden et al. (2020)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Random survival forests, 52 predictors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Cardiovascular factors less important than expected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latin typeface="Calibri"/>
                        </a:rPr>
                        <a:t>Yi et al. (2023)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XGBoost + SHAP for diagnosis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CDR-SB most important; diagnosis, not prediction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latin typeface="Calibri"/>
                        </a:rPr>
                        <a:t>Gorishniy et al. (2021)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FT-Transformer for tabular data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No deep model consistently beats boosted trees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latin typeface="Calibri"/>
                        </a:rPr>
                        <a:t>Lewis et al. (2020)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Retrieval-augmented generation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latin typeface="Calibri"/>
                        </a:rPr>
                        <a:t>Grounds generated text in a fixed library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672583"/>
            <a:ext cx="112471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72583"/>
            <a:ext cx="112471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Research gap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56631"/>
            <a:ext cx="11247120" cy="53035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93207"/>
            <a:ext cx="11247120" cy="49377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Few studies measure, on one large leakage-controlled cohort, </a:t>
            </a:r>
            <a:r>
              <a:rPr sz="1500" b="1">
                <a:solidFill>
                  <a:srgbClr val="000000"/>
                </a:solidFill>
                <a:latin typeface="Calibri"/>
              </a:rPr>
              <a:t>how much each source adds once current cognition is known</a:t>
            </a:r>
            <a:r>
              <a:rPr sz="1500" b="0">
                <a:solidFill>
                  <a:srgbClr val="000000"/>
                </a:solidFill>
                <a:latin typeface="Calibri"/>
              </a:rPr>
              <a:t>, with results </a:t>
            </a:r>
            <a:r>
              <a:rPr sz="1500" b="1">
                <a:solidFill>
                  <a:srgbClr val="000000"/>
                </a:solidFill>
                <a:latin typeface="Calibri"/>
              </a:rPr>
              <a:t>within</a:t>
            </a:r>
            <a:r>
              <a:rPr sz="1500" b="0">
                <a:solidFill>
                  <a:srgbClr val="000000"/>
                </a:solidFill>
                <a:latin typeface="Calibri"/>
              </a:rPr>
              <a:t> normal and MCI groups.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Why the design changed after the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4 / 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39496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39496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First-review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5394960" cy="80467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394960" cy="7680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3D CNN on raw amyloid PET + 34 clinical features, spatial cross-attention, 1-year CDR-SB rise ≥ 0.5.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560320"/>
          <a:ext cx="5394960" cy="1234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08960"/>
                <a:gridCol w="22860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Run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Mean AUROC (SD)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Reported at review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0.786 (0.134)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Re-run, same notebook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0.652 (0.153)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62828"/>
                </a:solidFill>
                <a:latin typeface="Calibri"/>
              </a:rPr>
              <a:t>Diagnosis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81328"/>
            <a:ext cx="5303520" cy="1828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Only 198 people and </a:t>
            </a:r>
            <a:r>
              <a:rPr sz="1500" b="1">
                <a:solidFill>
                  <a:srgbClr val="000000"/>
                </a:solidFill>
                <a:latin typeface="Calibri"/>
              </a:rPr>
              <a:t>17 events</a:t>
            </a:r>
            <a:r>
              <a:rPr sz="1500" b="0">
                <a:solidFill>
                  <a:srgbClr val="000000"/>
                </a:solidFill>
                <a:latin typeface="Calibri"/>
              </a:rPr>
              <a:t>: a handful of participants decides the score. The pipeline also mixed PET time frames, had no registration, read one non-existent column and fitted SHAP on all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66160"/>
            <a:ext cx="53035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62828"/>
                </a:solidFill>
                <a:latin typeface="Calibri"/>
              </a:rPr>
              <a:t>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50208"/>
            <a:ext cx="5303520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Move to the full clinical cohort with three-year outcomes and thousands of events; treat PET images as a separate, validated pipeline.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04 | Data: NACC Freeze 74 and the Cohort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5 /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5486400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6576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Step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Participants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All participants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57,038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First visit, in person, UDS v1–3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55,461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   not demented at that visit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38,107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   outcome known at 3 years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19,470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      converted to dementia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2,818 (14.5%)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794760"/>
            <a:ext cx="548640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794760"/>
            <a:ext cx="548640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Three groups, very different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178808"/>
            <a:ext cx="5486400" cy="103327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215384"/>
            <a:ext cx="5486400" cy="9966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Normal 12,377 (1.6% convert)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MCI 5,993 (41.5%)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Impaired, not MCI 1,100 (12.3%)</a:t>
            </a:r>
          </a:p>
        </p:txBody>
      </p:sp>
      <p:pic>
        <p:nvPicPr>
          <p:cNvPr id="10" name="Picture 9" descr="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97280"/>
            <a:ext cx="5486400" cy="1305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27432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Person-level split; </a:t>
            </a:r>
            <a:r>
              <a:rPr sz="1600" b="1">
                <a:latin typeface="Calibri"/>
              </a:rPr>
              <a:t>9 of 46 centres held out</a:t>
            </a:r>
            <a:r>
              <a:rPr sz="1600" b="0">
                <a:latin typeface="Calibri"/>
              </a:rPr>
              <a:t> entirely.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Train 70% / validation 15% / test 15%, seed 2026.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Every normaliser and imputer fitted on training data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Outcomes and censoring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6 / 27</a:t>
            </a:r>
          </a:p>
        </p:txBody>
      </p:sp>
      <p:pic>
        <p:nvPicPr>
          <p:cNvPr id="5" name="Picture 4" descr="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309360" cy="19535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05840"/>
            <a:ext cx="484632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y = 1 if T ≤ 3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y = 0 if T &gt; 3 and C ≥ 3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y unknown if T &gt; 3 and C &lt; 3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T: years to dementia diagnosis; C: years to last visit.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2697480"/>
            <a:ext cx="48463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697480"/>
            <a:ext cx="48463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Secondary outcomes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3081528"/>
            <a:ext cx="4846320" cy="89611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3118104"/>
            <a:ext cx="4846320" cy="8595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CDR-SB rise ≥ 1 within 3 years (20,355 people, 5,035 events) and the 3-year change Δ in CDR-SB.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4206240"/>
            <a:ext cx="48463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62828"/>
                </a:solidFill>
                <a:latin typeface="Calibri"/>
              </a:rPr>
              <a:t>Robustness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4590288"/>
            <a:ext cx="4846320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A Cox model that keeps censored participants gives the same conclusions.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05 | 48 Features in Five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7 /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5486400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Category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Features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Demographics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Cardiovascular and medical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25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Cognitive tests (z-scores)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Clinical stage (CDR-SB, diagnosis)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Genetics (APOE ε4, family history)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PET (second-stage model only)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68496"/>
            <a:ext cx="548640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968496"/>
            <a:ext cx="548640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Harmonising tests across form versions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52544"/>
            <a:ext cx="5486400" cy="107899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5486400" cy="104241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ŝ = β₀ + β₁·age + β₂·female + β₃·education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z = (s − ŝ) / σ_res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Fitted on cognitively normal training participants.</a:t>
            </a:r>
          </a:p>
        </p:txBody>
      </p:sp>
      <p:pic>
        <p:nvPicPr>
          <p:cNvPr id="10" name="Picture 9" descr="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05840"/>
            <a:ext cx="5486400" cy="17643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3017520"/>
            <a:ext cx="5486400" cy="1828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MoCA example: expected 25.8 for a 72-year-old woman with 16 years of education, so a score of 21 gives z = −1.9. Healthy people not used for fitting score within 0.1 of zero in every UDS version.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06 | Methodology: the CardioCog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8 / 27</a:t>
            </a:r>
          </a:p>
        </p:txBody>
      </p:sp>
      <p:pic>
        <p:nvPicPr>
          <p:cNvPr id="5" name="Picture 4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868680"/>
            <a:ext cx="9235440" cy="44346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440478"/>
            <a:ext cx="112471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440478"/>
            <a:ext cx="112471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Rule for every 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824526"/>
            <a:ext cx="11247120" cy="53035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861102"/>
            <a:ext cx="11247120" cy="49377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Only information available at the index visit; anything learned from data is fitted on the training set; results are reported on the test set and on centres never seen in training.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Models compared on the same 48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9 /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5669280" cy="26334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356616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Model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Key settings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Logistic regression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L2 penalty, C from 5 values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Random forest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500 trees, √p features per split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XGBoost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η = 0.03, depth 3–6, λ = 2, early stopping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MLP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128–64 units, dropout 0.2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FT-Transformer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64-d tokens, 3 layers, 8 heads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822191"/>
            <a:ext cx="5669280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Three seeds averaged; XGBoost chosen as the main model (handles missing values, exact SHAP).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005840"/>
            <a:ext cx="521208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005840"/>
            <a:ext cx="521208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XGBoost 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389888"/>
            <a:ext cx="5212080" cy="121615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26464"/>
            <a:ext cx="5212080" cy="117957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f_M(x) = Σₘ η·gₘ(x)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w*ⱼ = −Σ Gᵢ / (Σ Hᵢ + λ)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G, H: first and second derivatives of the 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880360"/>
            <a:ext cx="521208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80360"/>
            <a:ext cx="521208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Loss and 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5212080" cy="121615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00984"/>
            <a:ext cx="5212080" cy="117957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L = −(1/n) Σ [y log p̂ + (1−y) log(1−p̂)]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AUROC, AUPRC, Brier, calibration slope, net benefit; 1,000 paired bootstrap resamples.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Modality-encoder fusion network (proposed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10 / 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011680" cy="548640"/>
          </a:xfrm>
          <a:prstGeom prst="roundRect">
            <a:avLst/>
          </a:prstGeom>
          <a:solidFill>
            <a:srgbClr val="E8F3F2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Demographics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201168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Encoder E_g → token t_g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051560"/>
            <a:ext cx="2011680" cy="548640"/>
          </a:xfrm>
          <a:prstGeom prst="roundRect">
            <a:avLst/>
          </a:prstGeom>
          <a:solidFill>
            <a:srgbClr val="E8F3F2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Genetics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874519"/>
            <a:ext cx="201168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Encoder E_g → token t_g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051560"/>
            <a:ext cx="2011680" cy="548640"/>
          </a:xfrm>
          <a:prstGeom prst="roundRect">
            <a:avLst/>
          </a:prstGeom>
          <a:solidFill>
            <a:srgbClr val="E8F3F2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Cardiovascular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1874519"/>
            <a:ext cx="201168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Encoder E_g → token t_g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051560"/>
            <a:ext cx="2011680" cy="548640"/>
          </a:xfrm>
          <a:prstGeom prst="roundRect">
            <a:avLst/>
          </a:prstGeom>
          <a:solidFill>
            <a:srgbClr val="E8F3F2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Cognitive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1874519"/>
            <a:ext cx="201168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Encoder E_g → token t_g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1051560"/>
            <a:ext cx="2011680" cy="548640"/>
          </a:xfrm>
          <a:prstGeom prst="roundRect">
            <a:avLst/>
          </a:prstGeom>
          <a:solidFill>
            <a:srgbClr val="E8F3F2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Clinical stage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1874519"/>
            <a:ext cx="201168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Encoder E_g → token t_g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971800"/>
            <a:ext cx="5486400" cy="548640"/>
          </a:xfrm>
          <a:prstGeom prst="roundRect">
            <a:avLst/>
          </a:prstGeom>
          <a:solidFill>
            <a:srgbClr val="E8F3F2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4-head attention with learned query q → fused z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8760" y="1600200"/>
            <a:ext cx="0" cy="274319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08760" y="2423160"/>
            <a:ext cx="4572000" cy="548640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794760" y="1600200"/>
            <a:ext cx="0" cy="274319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94760" y="2423160"/>
            <a:ext cx="2286000" cy="548640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80760" y="1600200"/>
            <a:ext cx="0" cy="274319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2423160"/>
            <a:ext cx="0" cy="548640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366760" y="1600200"/>
            <a:ext cx="0" cy="274319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080760" y="2423160"/>
            <a:ext cx="2286000" cy="548640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652760" y="1600200"/>
            <a:ext cx="0" cy="274319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080760" y="2423160"/>
            <a:ext cx="4572000" cy="548640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194560" y="4023360"/>
            <a:ext cx="3291840" cy="548640"/>
          </a:xfrm>
          <a:prstGeom prst="roundRect">
            <a:avLst/>
          </a:prstGeom>
          <a:solidFill>
            <a:srgbClr val="F5E8EE"/>
          </a:solidFill>
          <a:ln>
            <a:solidFill>
              <a:srgbClr val="9C1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Risk head: p̂ = σ(r(z))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4023360"/>
            <a:ext cx="3291840" cy="548640"/>
          </a:xfrm>
          <a:prstGeom prst="roundRect">
            <a:avLst/>
          </a:prstGeom>
          <a:solidFill>
            <a:srgbClr val="F5E8EE"/>
          </a:solidFill>
          <a:ln>
            <a:solidFill>
              <a:srgbClr val="9C1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Progression head: Δ̂ = q(z)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41280" y="4023360"/>
            <a:ext cx="16916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0E72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000000"/>
                </a:solidFill>
                <a:latin typeface="Calibri"/>
              </a:rPr>
              <a:t>Tier 2: PET by late fusion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3840480" y="3520440"/>
            <a:ext cx="2240280" cy="502920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80760" y="3520440"/>
            <a:ext cx="2240280" cy="502920"/>
          </a:xfrm>
          <a:prstGeom prst="line">
            <a:avLst/>
          </a:prstGeom>
          <a:ln w="19050">
            <a:solidFill>
              <a:srgbClr val="1B2A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A missing modality gets a learned token m_g; each token gets a type embedding τ_g; whole modalities are hidden with probability 0.35 in training.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L = L_BCE + 0.5 · Huber(Δ − Δ̂),     α_g = softmax_g((W_Q q)ᵀ W_K t_g / √8)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07 | Results: Dementia Within Three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11 /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47120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60320"/>
                <a:gridCol w="2651760"/>
                <a:gridCol w="1280160"/>
                <a:gridCol w="1280160"/>
                <a:gridCol w="182880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Model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Test AUROC (95% CI)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AUPRC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Brier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Held-out AUROC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Held-out Brier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Logistic regression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0.936 (0.924–0.949)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0.721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0.066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0.945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0.060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Random forest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0.932 (0.919–0.944)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0.704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0.070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0.940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0.064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XGBoost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0.938 (0.925–0.948)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0.713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0.066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0.946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0.059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MLP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0.938 (0.926–0.949)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0.721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0.066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0.946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0.059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FT-Transformer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0.939 (0.927–0.949)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0.720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0.066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0.945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0.061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2471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Test set: 2,286 participants, 332 events. Held-out centres: 4,064 participants, 545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86200"/>
            <a:ext cx="112471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886200"/>
            <a:ext cx="112471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What the result does establish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70248"/>
            <a:ext cx="11247120" cy="53035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306824"/>
            <a:ext cx="11247120" cy="49377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All five models discriminate well and are well calibrated (constant-prediction Brier 0.124), at new centres as well as on the test 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83480"/>
            <a:ext cx="112471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983480"/>
            <a:ext cx="112471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What it does not establish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67528"/>
            <a:ext cx="11247120" cy="53035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404104"/>
            <a:ext cx="11247120" cy="49377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Intervals overlap almost completely: deep models give </a:t>
            </a:r>
            <a:r>
              <a:rPr sz="1500" b="1">
                <a:solidFill>
                  <a:srgbClr val="000000"/>
                </a:solidFill>
                <a:latin typeface="Calibri"/>
              </a:rPr>
              <a:t>no gain</a:t>
            </a:r>
            <a:r>
              <a:rPr sz="1500" b="0">
                <a:solidFill>
                  <a:srgbClr val="000000"/>
                </a:solidFill>
                <a:latin typeface="Calibri"/>
              </a:rPr>
              <a:t> over logistic regression or boosted trees.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Is 0.94 too good? Results within diagnostic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12 /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669280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74720"/>
                <a:gridCol w="109728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Group (test / held-out events)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Test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Held-out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latin typeface="Calibri"/>
                        </a:rPr>
                        <a:t>All not demented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0.937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0.946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latin typeface="Calibri"/>
                        </a:rPr>
                        <a:t>Cognitively normal (24 / 37)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0.884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0.876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latin typeface="Calibri"/>
                        </a:rPr>
                        <a:t>MCI (289 / 496)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0.835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0.846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291840"/>
            <a:ext cx="566928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566928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Interpretation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75888"/>
            <a:ext cx="5669280" cy="98755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712464"/>
            <a:ext cx="5669280" cy="95097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Diagnosis alone gives AUROC 0.84, because MCI converts 25 times as often as normal cognition. Within MCI the model still ranks risk at </a:t>
            </a:r>
            <a:r>
              <a:rPr sz="1500" b="1">
                <a:solidFill>
                  <a:srgbClr val="000000"/>
                </a:solidFill>
                <a:latin typeface="Calibri"/>
              </a:rPr>
              <a:t>0.84</a:t>
            </a:r>
            <a:r>
              <a:rPr sz="1500" b="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097280"/>
            <a:ext cx="5120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62828"/>
                </a:solidFill>
                <a:latin typeface="Calibri"/>
              </a:rPr>
              <a:t>Critical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481328"/>
            <a:ext cx="5120640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Removing all current-cognition information drops AUROC from 0.937 to </a:t>
            </a:r>
            <a:r>
              <a:rPr sz="1500" b="1">
                <a:solidFill>
                  <a:srgbClr val="000000"/>
                </a:solidFill>
                <a:latin typeface="Calibri"/>
              </a:rPr>
              <a:t>0.746</a:t>
            </a:r>
            <a:r>
              <a:rPr sz="1500" b="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5120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62828"/>
                </a:solidFill>
                <a:latin typeface="Calibri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127248"/>
            <a:ext cx="5120640" cy="1645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The model estimates short-term progression given the current clinical stage. It is not leakage: inputs are from the index visit, the label from later visits.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What drives the prediction? Category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13 / 27</a:t>
            </a:r>
          </a:p>
        </p:txBody>
      </p:sp>
      <p:pic>
        <p:nvPicPr>
          <p:cNvPr id="5" name="Picture 4" descr="06_feature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68680"/>
            <a:ext cx="10515600" cy="294436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194560" y="3904487"/>
          <a:ext cx="7772400" cy="197510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188720"/>
                <a:gridCol w="2103120"/>
                <a:gridCol w="17373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Category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Alone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Gain added last (test)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Gain (held-out)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Cognitive tests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0.896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+0.022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+0.019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Clinical stage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0.897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Demographics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0.671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+0.009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Genetics (APOE)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0.645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Cardiovascular / medical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0.626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+0.001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The cardiovascular question (RQ2)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14 / 27</a:t>
            </a:r>
          </a:p>
        </p:txBody>
      </p:sp>
      <p:pic>
        <p:nvPicPr>
          <p:cNvPr id="5" name="Picture 4" descr="09_hazard_rat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943600" cy="2974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058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Alone: AUROC </a:t>
            </a:r>
            <a:r>
              <a:rPr sz="1600" b="1">
                <a:latin typeface="Calibri"/>
              </a:rPr>
              <a:t>0.626</a:t>
            </a:r>
            <a:r>
              <a:rPr sz="1600" b="0">
                <a:latin typeface="Calibri"/>
              </a:rPr>
              <a:t>; before cognition: +0.024 (test), +0.004 (held-out).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After cognition: +0.001 for dementia, +0.0004 for CDR-SB decline.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Cox model: hypertension HR 0.995, diabetes and stroke ≈ 1.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3566160"/>
            <a:ext cx="521208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566160"/>
            <a:ext cx="521208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Interpretation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3950208"/>
            <a:ext cx="5212080" cy="144475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986784"/>
            <a:ext cx="5212080" cy="140817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Limited incremental value in this cohort, not evidence that vascular health is unimportant: median age 71, midlife exposure unobserved, and past damage already shows in the cognitive scores.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Explainability: Shapley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15 / 27</a:t>
            </a:r>
          </a:p>
        </p:txBody>
      </p:sp>
      <p:pic>
        <p:nvPicPr>
          <p:cNvPr id="5" name="Picture 4" descr="07_shap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949440" cy="33113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914400"/>
            <a:ext cx="429768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f(x) = φ₀ + Σⱼ φⱼ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80960" y="1463040"/>
          <a:ext cx="3931920" cy="23042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Category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SHAP share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Clinical stage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40.8%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Cognitive tests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35.0%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Demographics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15.5%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Cardiovascular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5.1%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Genetics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3.5%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98079" y="3950208"/>
            <a:ext cx="4297680" cy="1645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Stable over 8 refits (Spearman 0.89–0.97). Low BMI raises risk: weight loss before diagnosis, not causal.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Cognitive decline as the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16 / 27</a:t>
            </a:r>
          </a:p>
        </p:txBody>
      </p:sp>
      <p:pic>
        <p:nvPicPr>
          <p:cNvPr id="5" name="Picture 4" descr="decline_vs_demen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868680"/>
            <a:ext cx="8686800" cy="32043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164516"/>
            <a:ext cx="548640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64516"/>
            <a:ext cx="548640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CDR-SB rise ≥ 1 (20,355 / 5,035 events)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548564"/>
            <a:ext cx="5486400" cy="112471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85140"/>
            <a:ext cx="5486400" cy="10881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AUROC 0.858 test, 0.885 held-out; normal 0.76–0.83 with 129 and 215 events, so more reliable than the dementia estimate for normal cognition.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4164516"/>
            <a:ext cx="548640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4164516"/>
            <a:ext cx="548640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Predicted 3-year CDR-SB change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548564"/>
            <a:ext cx="5486400" cy="112471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585140"/>
            <a:ext cx="5486400" cy="10881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MAE 0.69 → 0.60 (test), 0.82 → 0.72 (held-out); MCI 1.90 → 1.59; normal 0.17 = 0.17, no gain.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Fusion network: works, but no gain and uninformative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17 / 27</a:t>
            </a:r>
          </a:p>
        </p:txBody>
      </p:sp>
      <p:pic>
        <p:nvPicPr>
          <p:cNvPr id="5" name="Picture 4" descr="fusion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766560" cy="261903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38912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1371600"/>
                <a:gridCol w="13716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AUROC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Fusion net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XGBoost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Test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0.934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Held-out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0.943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0.946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MCI (test)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0.831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0.835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23760" y="2679192"/>
            <a:ext cx="457200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Progression head MAE 0.72 → 0.65. Without cognition: AUROC 0.72, Brier 0.114.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685032"/>
            <a:ext cx="4572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62828"/>
                </a:solidFill>
                <a:latin typeface="Calibri"/>
              </a:rPr>
              <a:t>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4069080"/>
            <a:ext cx="457200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Attention is 18–22% for every modality (uniform = 20%), so it does not explain predictions. SHAP and ablation are used instead.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Earlier visits and PET measures (RQ3, RQ5)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18 / 27</a:t>
            </a:r>
          </a:p>
        </p:txBody>
      </p:sp>
      <p:pic>
        <p:nvPicPr>
          <p:cNvPr id="5" name="Picture 4" descr="06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577840" cy="139985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2588577"/>
            <a:ext cx="557784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588577"/>
            <a:ext cx="557784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Visit history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72625"/>
            <a:ext cx="5577840" cy="80467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009201"/>
            <a:ext cx="5577840" cy="7680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Landmark visits with ≥ 2 earlier visits: trajectory features +0.003, GRU +0.000 to +0.005 AUROC.</a:t>
            </a:r>
          </a:p>
        </p:txBody>
      </p:sp>
      <p:pic>
        <p:nvPicPr>
          <p:cNvPr id="10" name="Picture 9" descr="08_conversion_by_amylo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577840" cy="172199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7920" y="2910711"/>
            <a:ext cx="557784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910711"/>
            <a:ext cx="557784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Amyloid and tau PET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294759"/>
            <a:ext cx="5577840" cy="135331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3331335"/>
            <a:ext cx="5577840" cy="13167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MCI: 34% of amyloid-positive vs 7% of negative convert within 2 years. Late fusion: 0.964 vs 0.944 on 243 people (33 events); gain interval −0.009 to +0.066 includes zero.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08 | PET Image Pipeline: From DICOM to SUVR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19 / 27</a:t>
            </a:r>
          </a:p>
        </p:txBody>
      </p:sp>
      <p:pic>
        <p:nvPicPr>
          <p:cNvPr id="5" name="Picture 4" descr="11_group_average_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52160" cy="42886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221383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Group averages only (318 amyloid, 232 tau, 49 FDG scans).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91440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1.  </a:t>
            </a:r>
            <a:r>
              <a:rPr sz="1500" b="1">
                <a:latin typeface="Calibri"/>
              </a:rPr>
              <a:t>Convert: </a:t>
            </a:r>
            <a:r>
              <a:rPr sz="1500" b="0">
                <a:latin typeface="Calibri"/>
              </a:rPr>
              <a:t>599 dynamic DICOM series → static volume, V = Σ dₖVₖ / Σ dₖ over the standard window.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2.  </a:t>
            </a:r>
            <a:r>
              <a:rPr sz="1500" b="1">
                <a:latin typeface="Calibri"/>
              </a:rPr>
              <a:t>Register: </a:t>
            </a:r>
            <a:r>
              <a:rPr sz="1500" b="0">
                <a:latin typeface="Calibri"/>
              </a:rPr>
              <a:t>rigid to MNI152, then 12-parameter affine to a study PET template (Mattes mutual information).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9C1D55"/>
                </a:solidFill>
                <a:latin typeface="Calibri"/>
              </a:rPr>
              <a:t>3.  </a:t>
            </a:r>
            <a:r>
              <a:rPr sz="1500" b="1">
                <a:latin typeface="Calibri"/>
              </a:rPr>
              <a:t>Quantify: </a:t>
            </a:r>
            <a:r>
              <a:rPr sz="1500" b="0">
                <a:latin typeface="Calibri"/>
              </a:rPr>
              <a:t>Centiloid masks, SUVR = mean cortex / mean cerebellum.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4114800"/>
            <a:ext cx="53035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4114800"/>
            <a:ext cx="53035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Validation against the NACC PET 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4498848"/>
            <a:ext cx="5303520" cy="80467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535424"/>
            <a:ext cx="5303520" cy="7680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Pearson r = </a:t>
            </a:r>
            <a:r>
              <a:rPr sz="1500" b="1">
                <a:solidFill>
                  <a:srgbClr val="000000"/>
                </a:solidFill>
                <a:latin typeface="Calibri"/>
              </a:rPr>
              <a:t>0.977</a:t>
            </a:r>
            <a:r>
              <a:rPr sz="1500" b="0">
                <a:solidFill>
                  <a:srgbClr val="000000"/>
                </a:solidFill>
                <a:latin typeface="Calibri"/>
              </a:rPr>
              <a:t> over 318 scans (0.96–0.99 per tracer); mean difference −0.043.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3D CNN for amyloid status and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20 / 27</a:t>
            </a:r>
          </a:p>
        </p:txBody>
      </p:sp>
      <p:pic>
        <p:nvPicPr>
          <p:cNvPr id="5" name="Picture 4" descr="11_gradcam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943600" cy="42842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914400"/>
          <a:ext cx="521208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Method (292 scans, 84 positive)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AUROC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Cortical SUVR (one number)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0.982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Regional logistic model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0.971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3D CNN (494,917 weights)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0.960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0" y="2724911"/>
            <a:ext cx="521208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724911"/>
            <a:ext cx="521208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Interpretation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3108959"/>
            <a:ext cx="5212080" cy="89611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145535"/>
            <a:ext cx="5212080" cy="8595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The pipeline supports a working image model, but the label is itself derived from cortical SUVR, so one number is hard to beat.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187951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62828"/>
                </a:solidFill>
                <a:latin typeface="Calibri"/>
              </a:rPr>
              <a:t>Limitation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571999"/>
            <a:ext cx="5212080" cy="1645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Grad-CAM was diffuse (1.7% of top voxels in the cortical region vs 3.8% by chance), and only 5 imaged people converted, so images were not used to predict dementia.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09 | Validation: Calibration, Usefulness, Missing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21 / 27</a:t>
            </a:r>
          </a:p>
        </p:txBody>
      </p:sp>
      <p:pic>
        <p:nvPicPr>
          <p:cNvPr id="5" name="Picture 4" descr="09_decis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669280" cy="17958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2801721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B2A4A"/>
                </a:solidFill>
                <a:latin typeface="Calibri"/>
              </a:rPr>
              <a:t>•  </a:t>
            </a:r>
            <a:r>
              <a:rPr sz="1500" b="0">
                <a:latin typeface="Calibri"/>
              </a:rPr>
              <a:t>Test: predicted 14.5% = observed 14.5%, slope 1.01.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2A4A"/>
                </a:solidFill>
                <a:latin typeface="Calibri"/>
              </a:rPr>
              <a:t>•  </a:t>
            </a:r>
            <a:r>
              <a:rPr sz="1500" b="0">
                <a:latin typeface="Calibri"/>
              </a:rPr>
              <a:t>Held-out: 15.0% vs 13.4%, slope 1.10.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2A4A"/>
                </a:solidFill>
                <a:latin typeface="Calibri"/>
              </a:rPr>
              <a:t>•  </a:t>
            </a:r>
            <a:r>
              <a:rPr sz="1500" b="0">
                <a:latin typeface="Calibri"/>
              </a:rPr>
              <a:t>At 20% risk: sensitivity 83%, specificity 88%, NPV 97%.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2A4A"/>
                </a:solidFill>
                <a:latin typeface="Calibri"/>
              </a:rPr>
              <a:t>•  </a:t>
            </a:r>
            <a:r>
              <a:rPr sz="1500" b="0">
                <a:latin typeface="Calibri"/>
              </a:rPr>
              <a:t>Net benefit above treat-all and treat-none from 2% to 60%.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09360" y="914400"/>
          <a:ext cx="5486400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1097280"/>
                <a:gridCol w="1097280"/>
                <a:gridCol w="10972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Brier score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Standard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Dropout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Specialist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Everything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0.066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0.067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0.066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No clinical stage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0.185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0.076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0.074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No cognition at all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0.441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0.115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0.111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Demographics only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0.444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0.120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0.118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3108960"/>
            <a:ext cx="548640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3108960"/>
            <a:ext cx="548640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Modality dropout (p = 0.35)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493008"/>
            <a:ext cx="5486400" cy="89611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529584"/>
            <a:ext cx="5486400" cy="8595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One model stays close to a specialist retrained for each missing pattern; a standard model becomes worse than the base rate.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10 | Research Prototype for Clinicians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22 / 27</a:t>
            </a:r>
          </a:p>
        </p:txBody>
      </p:sp>
      <p:pic>
        <p:nvPicPr>
          <p:cNvPr id="5" name="Picture 4" descr="app_est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3397267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1005840"/>
            <a:ext cx="6035040" cy="8229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Example: </a:t>
            </a:r>
            <a:r>
              <a:rPr sz="1600" b="0">
                <a:solidFill>
                  <a:srgbClr val="000000"/>
                </a:solidFill>
                <a:latin typeface="Calibri"/>
              </a:rPr>
              <a:t>72-year-old woman, 16 years of education, MCI, CDR-SB 2, MoCA 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FastAPI + React; form generated from the 48 trained features.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Risk shown next to the observed rate of similar people (39% vs 40%), with SHAP by category.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Plausibility checks flag contradictory entries.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Plain-language report with quoted evidence.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27 of 28 behaviour checks pass; MCI under 65 over-predicted (35% vs 27%).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Plain-language report for the same patient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23 / 27</a:t>
            </a:r>
          </a:p>
        </p:txBody>
      </p:sp>
      <p:pic>
        <p:nvPicPr>
          <p:cNvPr id="5" name="Picture 4" descr="app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3997989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005840"/>
            <a:ext cx="6766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9C1D55"/>
                </a:solidFill>
                <a:latin typeface="Calibri"/>
              </a:rPr>
              <a:t>1.  </a:t>
            </a:r>
            <a:r>
              <a:rPr sz="1600" b="1">
                <a:latin typeface="Calibri"/>
              </a:rPr>
              <a:t>Summary: </a:t>
            </a:r>
            <a:r>
              <a:rPr sz="1600" b="0">
                <a:latin typeface="Calibri"/>
              </a:rPr>
              <a:t>risk next to the observed rate of similar people.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9C1D55"/>
                </a:solidFill>
                <a:latin typeface="Calibri"/>
              </a:rPr>
              <a:t>2.  </a:t>
            </a:r>
            <a:r>
              <a:rPr sz="1600" b="1">
                <a:latin typeface="Calibri"/>
              </a:rPr>
              <a:t>Main reasons: </a:t>
            </a:r>
            <a:r>
              <a:rPr sz="1600" b="0">
                <a:latin typeface="Calibri"/>
              </a:rPr>
              <a:t>largest SHAP contributions in plain words.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9C1D55"/>
                </a:solidFill>
                <a:latin typeface="Calibri"/>
              </a:rPr>
              <a:t>3.  </a:t>
            </a:r>
            <a:r>
              <a:rPr sz="1600" b="1">
                <a:latin typeface="Calibri"/>
              </a:rPr>
              <a:t>Reliability: </a:t>
            </a:r>
            <a:r>
              <a:rPr sz="1600" b="0">
                <a:latin typeface="Calibri"/>
              </a:rPr>
              <a:t>missing categories and plausibility warnings.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9C1D55"/>
                </a:solidFill>
                <a:latin typeface="Calibri"/>
              </a:rPr>
              <a:t>4.  </a:t>
            </a:r>
            <a:r>
              <a:rPr sz="1600" b="1">
                <a:latin typeface="Calibri"/>
              </a:rPr>
              <a:t>Published evidence: </a:t>
            </a:r>
            <a:r>
              <a:rPr sz="1600" b="0">
                <a:latin typeface="Calibri"/>
              </a:rPr>
              <a:t>quoted passages with their source.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9C1D55"/>
                </a:solidFill>
                <a:latin typeface="Calibri"/>
              </a:rPr>
              <a:t>5.  </a:t>
            </a:r>
            <a:r>
              <a:rPr sz="1600" b="1">
                <a:latin typeface="Calibri"/>
              </a:rPr>
              <a:t>Limits: </a:t>
            </a:r>
            <a:r>
              <a:rPr sz="1600" b="0">
                <a:latin typeface="Calibri"/>
              </a:rPr>
              <a:t>fixed statement that it is not a diagnosis.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4297680"/>
            <a:ext cx="676656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4297680"/>
            <a:ext cx="676656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Design choice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681728"/>
            <a:ext cx="6766560" cy="89611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4718304"/>
            <a:ext cx="6766560" cy="8595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Templates are filled with the person's own numbers and evidence is quoted, so the report cannot state anything the model or the literature did not provide.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Evidence assistant (retrieval-augmented generation)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24 / 27</a:t>
            </a:r>
          </a:p>
        </p:txBody>
      </p:sp>
      <p:pic>
        <p:nvPicPr>
          <p:cNvPr id="5" name="Picture 4" descr="app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868680"/>
            <a:ext cx="9601200" cy="27397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791356"/>
            <a:ext cx="5669280" cy="20116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s_RRF(d) = 1/(60 + rank_sem(d)) + 1/(60 + rank_BM25(d))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MiniLM embeddings + BM25 (k₁ = 1.5, b = 0.75), merged by rank fusion. Below similarity 0.35 the assistant says the library has no evidence.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3791356"/>
          <a:ext cx="530352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023360"/>
                <a:gridCol w="128016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Test (11 papers, 447 passages)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Result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Correct source first: hybrid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32 / 32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   embeddings only / BM25 only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28 / 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Personal-advice questions flagged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8 / 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Out-of-scope questions declined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6 / 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11 | Independent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25 /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47120" cy="2880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0"/>
                <a:gridCol w="484632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Check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Result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No person or held-out centre in more than one partition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 shared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Features unchanged when all later visits are deleted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Identical for 1,500 people × 67 features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No PET value newer than the visit that uses it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 of 1,481 amyloid, 713 tau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Labels recomputed independently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 disagreements in 11,403 visits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Shuffled labels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AUROC 0.508 (chance)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Retrain with a new seed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0.937 / 0.946 (reported 0.938 / 0.946)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Errors the checks found and we fixed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98848"/>
            <a:ext cx="11247120" cy="85039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35424"/>
            <a:ext cx="11247120" cy="81381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Education and race filled from a later visit (0.1% of people); PET scans matched to visits weeks before the scan. After fixing, every model was retrained: results moved only in the third decimal. </a:t>
            </a:r>
            <a:r>
              <a:rPr sz="1500" b="1">
                <a:solidFill>
                  <a:srgbClr val="000000"/>
                </a:solidFill>
                <a:latin typeface="Calibri"/>
              </a:rPr>
              <a:t>17 of 17 checks pass.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Synthesis: what each research question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26 /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47119" cy="34381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7955279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Research question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latin typeface="Calibri"/>
                        </a:rPr>
                        <a:t>Answer and evidence</a:t>
                      </a:r>
                    </a:p>
                  </a:txBody>
                  <a:tcPr marT="27432" marB="27432">
                    <a:solidFill>
                      <a:srgbClr val="F2F4F7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RQ1 Prediction accuracy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Dementia 0.94 (0.84 in MCI); decline 0.86 (0.75 in MCI); change regression helps MCI only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RQ2 Cardiovascular history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+0.001 AUROC once cognition is known; Cox agrees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RQ3 Amyloid and tau PET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Strong association, no demonstrable gain with current follow-up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RQ4 Deep models / fusion net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No gain over logistic regression or XGBoost; attention uniform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RQ5 Earlier visits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+0.000 to +0.005 AUROC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RQ6 Missing categories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Modality dropout keeps calibration close to specialist models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RQ7 Explanation and evidence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latin typeface="Calibri"/>
                        </a:rPr>
                        <a:t>SHAP, plausibility checks, report with quoted published evidence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672583"/>
            <a:ext cx="1124712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72583"/>
            <a:ext cx="1124712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Final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56631"/>
            <a:ext cx="11247120" cy="57607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93207"/>
            <a:ext cx="11247120" cy="5394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How a person is functioning today carries most of the three-year signal; decades of vascular and genetic history leave their trace in that measurement rather than adding to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11551615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Limitations, Future Work and Final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46520"/>
            <a:ext cx="10972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Held-out centres are site-level validation within NACC; external and temporal validation on another cohort is the next step.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NACC is a research cohort, mostly White and highly educated; about half of eligible people lacked a 3-year outcome (Cox check agrees).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Only 24 and 37 cognitively normal converters in test and held-out sets; a dedicated 5- to 10-year model for normal cognition is needed.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Richer vascular exposure (repeated blood pressure, treatment, small-vessel imaging) may capture what yes/no history misses.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PET registration without MRI, tau not quantified; more follow-up will allow a powered PET test.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</a:t>
            </a:r>
            <a:r>
              <a:rPr sz="1600" b="0">
                <a:latin typeface="Calibri"/>
              </a:rPr>
              <a:t>Evidence library of 11 papers and team-written questions; a curated library and stronger local model would help.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74920"/>
            <a:ext cx="11155680" cy="384048"/>
          </a:xfrm>
          <a:prstGeom prst="rect">
            <a:avLst/>
          </a:prstGeom>
          <a:solidFill>
            <a:srgbClr val="0E7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1115568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Contribution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458968"/>
            <a:ext cx="11155680" cy="576072"/>
          </a:xfrm>
          <a:prstGeom prst="rect">
            <a:avLst/>
          </a:prstGeom>
          <a:solidFill>
            <a:srgbClr val="E8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495544"/>
            <a:ext cx="11155680" cy="5394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A leakage-free, verified pipeline that measures what each source of information adds, reports results within diagnostic groups, and delivers explainable, evidence-backed estimates.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>
                <a:solidFill>
                  <a:srgbClr val="9C1D55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Questions are welcome.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2895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Data: National Alzheimer's Coordinating Center (NACC), Freeze 74, used under the NACC data use agreement.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All results are aggregates.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