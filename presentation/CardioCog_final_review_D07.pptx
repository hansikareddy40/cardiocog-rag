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99F4A-0CC4-D23F-E208-D9865C1B5E55}" v="1719" dt="2026-08-03T22:59:42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280160"/>
            <a:ext cx="8046720" cy="1645920"/>
          </a:xfrm>
        </p:spPr>
        <p:txBody>
          <a:bodyPr wrap="square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sz="2200" b="0">
                <a:solidFill>
                  <a:srgbClr val="1F1F1F"/>
                </a:solidFill>
                <a:latin typeface="Calibri"/>
              </a:rPr>
              <a:t>CardioCog: An Explainable AI Framework for Cognitive Health Assessment and Early Prediction of Cognitive Decline Using Cardiovascular, Genetic, and Clinical Factors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108960"/>
            <a:ext cx="8229600" cy="3474720"/>
          </a:xfrm>
        </p:spPr>
        <p:txBody>
          <a:bodyPr vert="horz" lIns="91440" tIns="45720" rIns="91440" bIns="45720" rtlCol="0" anchor="t" wrap="square"/>
          <a:lstStyle/>
          <a:p>
            <a:pPr marL="0" indent="0" algn="ctr">
              <a:spcAft>
                <a:spcPts val="1200"/>
              </a:spcAft>
              <a:buNone/>
            </a:pPr>
            <a:r>
              <a:rPr sz="1800" b="1">
                <a:solidFill>
                  <a:srgbClr val="1F1F1F"/>
                </a:solidFill>
                <a:latin typeface="Calibri"/>
              </a:rPr>
              <a:t>Final Review – B.Tech Project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Akula Akhil Vighnesh – CB.SC.U4AIE23303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Vada Gouri Hansika Reddy – CB.SC.U4AIE23304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Pilli Venkata Bhargav Reddy – CB.SC.U4AIE23329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Marella Venkata Mahidhar Reddy – CB.SC.U4AIE23354</a:t>
            </a:r>
          </a:p>
          <a:p>
            <a:pPr marL="0" indent="0" algn="ctr">
              <a:spcAft>
                <a:spcPts val="40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Team D07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Guide: Dr. Manoj Bhat K, Professor  |  Co-guide: Amrutha Veluppal, Professor</a:t>
            </a:r>
          </a:p>
        </p:txBody>
      </p:sp>
      <p:pic>
        <p:nvPicPr>
          <p:cNvPr id="4" name="Picture 3" descr="1ebf939e-38c1-4044-bb92-b6712d24a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611" y="91440"/>
            <a:ext cx="5332778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Introduction &amp; Motivation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700" b="0">
                <a:solidFill>
                  <a:srgbClr val="595959"/>
                </a:solidFill>
                <a:latin typeface="Calibri"/>
              </a:rPr>
              <a:t>Domain: AI / Healthcare Analytics / XAI / Biomedical Data Science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Introduction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Dementia and Alzheimer's disease are increasing worldwide, affecting memory, thinking and quality of life.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Hypertension, diabetes, obesity and stroke are associated with a higher risk of cognitive decline.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Clinics already record cognition, vascular history, genetics and sometimes PET, but rarely combine them into one explainable estimate of near-term risk.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Motivation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Decline is hard to reverse once noticeable, so the years before diagnosis are the window for intervention.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Early identification allows low-cost steps and gives families time to plan.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In NACC, </a:t>
            </a:r>
            <a:r>
              <a:rPr sz="1700" b="1">
                <a:solidFill>
                  <a:srgbClr val="1F1F1F"/>
                </a:solidFill>
                <a:latin typeface="Calibri"/>
              </a:rPr>
              <a:t>14.5%</a:t>
            </a:r>
            <a:r>
              <a:rPr sz="1700" b="0">
                <a:solidFill>
                  <a:srgbClr val="1F1F1F"/>
                </a:solidFill>
                <a:latin typeface="Calibri"/>
              </a:rPr>
              <a:t> of people without dementia converted within three years; among those with MCI, </a:t>
            </a:r>
            <a:r>
              <a:rPr sz="1700" b="1">
                <a:solidFill>
                  <a:srgbClr val="1F1F1F"/>
                </a:solidFill>
                <a:latin typeface="Calibri"/>
              </a:rPr>
              <a:t>41.5%</a:t>
            </a:r>
            <a:r>
              <a:rPr sz="1700" b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7373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600" b="0">
                <a:solidFill>
                  <a:srgbClr val="1F1F1F"/>
                </a:solidFill>
                <a:latin typeface="Calibri"/>
              </a:rPr>
              <a:t>Clinical, cardiovascular, genetic and PET information is rarely combined into one explainable estimate of near-term decline, and it is unclear which source actually adds information.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600" b="0">
                <a:solidFill>
                  <a:srgbClr val="1F1F1F"/>
                </a:solidFill>
                <a:latin typeface="Calibri"/>
              </a:rPr>
              <a:t>For a person without dementia at a visit, CardioCog estimates over the next three years:</a:t>
            </a:r>
          </a:p>
          <a:p>
            <a:pPr marL="228600" indent="-201168">
              <a:spcAft>
                <a:spcPts val="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risk of </a:t>
            </a:r>
            <a:r>
              <a:rPr sz="1600" b="1">
                <a:solidFill>
                  <a:srgbClr val="1F1F1F"/>
                </a:solidFill>
                <a:latin typeface="Calibri"/>
              </a:rPr>
              <a:t>dementia</a:t>
            </a:r>
          </a:p>
          <a:p>
            <a:pPr marL="228600" indent="-201168">
              <a:spcAft>
                <a:spcPts val="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risk of a </a:t>
            </a:r>
            <a:r>
              <a:rPr sz="1600" b="1">
                <a:solidFill>
                  <a:srgbClr val="1F1F1F"/>
                </a:solidFill>
                <a:latin typeface="Calibri"/>
              </a:rPr>
              <a:t>CDR-SB rise ≥ 1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expected </a:t>
            </a:r>
            <a:r>
              <a:rPr sz="1600" b="1">
                <a:solidFill>
                  <a:srgbClr val="1F1F1F"/>
                </a:solidFill>
                <a:latin typeface="Calibri"/>
              </a:rPr>
              <a:t>change in CDR-SB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657600"/>
          <a:ext cx="822960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14800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In scope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Out of scope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3-year dementia and CDR-SB decline risk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Clinical diagnosis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Demographic, cardiovascular, genetic, cognitive, clinical-stage and PET data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Treatment recommendation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SHAP explanations and quoted published evidence (RAG)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Post-diagnosis prognosis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Validation at 9 held-out NACC centres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Validation on a non-NACC cohort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5354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0080"/>
                <a:gridCol w="7589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RQ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How accurately can dementia and CDR-SB decline be predicted, within normal and MCI groups separately?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Does cardiovascular history add to demographics, genetics and current cognition?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amyloid and tau PET add to the clinical model?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deep models, including a modality-encoder fusion network, beat classical ones?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earlier visits help?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Can one model cope with whole categories of missing information?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Can each estimate be explained and supported with published evidence?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Literature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828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2834640"/>
                <a:gridCol w="338328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Core method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Relevance / limitation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Livingston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Lancet Commission, 12 modifiable risk factors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Vascular risk matters over the life course; mostly midlife exposure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Alaka et al. (2025)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CAIDE + resting heart rate, random forest, NACC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Same database; AUC 0.80–0.91, no within-stage results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Stern &amp; Linial (2026)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CatBoost on UK Biobank codes + APOE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AUROC 0.773 without cognitive inputs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Aschwanden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Random survival forests, 52 predictors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factors less important than expected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Yi et al. (2023)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XGBoost + SHAP for diagnosis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CDR-SB most important; diagnosis, not prediction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Gorishniy et al. (2021)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FT-Transformer for tabular data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deep model consistently beats boosted trees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Lewis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Retrieval-augmented generation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Grounds generated text in a fixed library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Gap and Our Approach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Research gap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Few studies measure what cardiovascular factors add </a:t>
            </a:r>
            <a:r>
              <a:rPr sz="1700" b="1">
                <a:solidFill>
                  <a:srgbClr val="1F1F1F"/>
                </a:solidFill>
                <a:latin typeface="Calibri"/>
              </a:rPr>
              <a:t>once current cognition is known</a:t>
            </a:r>
            <a:r>
              <a:rPr sz="1700" b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Results are rarely reported </a:t>
            </a:r>
            <a:r>
              <a:rPr sz="1700" b="1">
                <a:solidFill>
                  <a:srgbClr val="1F1F1F"/>
                </a:solidFill>
                <a:latin typeface="Calibri"/>
              </a:rPr>
              <a:t>within</a:t>
            </a:r>
            <a:r>
              <a:rPr sz="1700" b="0">
                <a:solidFill>
                  <a:srgbClr val="1F1F1F"/>
                </a:solidFill>
                <a:latin typeface="Calibri"/>
              </a:rPr>
              <a:t> normal and MCI groups, where the clinical question lies.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Many models lack held-out sites and checks for information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2560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Our approach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One leakage-controlled NACC cohort: 19,470 people, nine whole centres held out.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Category-by-category ablation, with results within diagnostic groups.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17 independent verification checks on the whole pipeline.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Build a leakage-free three-year cohort from NACC with person-level splits and nine whole centres held out.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Predict dementia and CDR-SB decline, and estimate the three-year CDR-SB change, from 48 features in five categories.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Measure what cardiovascular history, genetics, PET and earlier visits add once current cognition is known.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Compare classical models, deep tabular models and a modality-encoder fusion network that copes with missing categories.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Explain each estimate with SHAP and quoted published evidence in a research prototype, and verify the pipeline independently.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Changes After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First-review prototype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3D CNN on raw amyloid PET + 34 clinical features; outcome: 1-year CDR-SB rise ≥ 0.5. Mean AUROC 0.786 at the review, 0.652 when the same notebook was re-run.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Diagnosis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Only 198 people and 17 events, so a handful of participants decides the score. PET time frames were mixed, with no registration, and SHAP was fitted on all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Decision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Move to the full clinical cohort with three-year outcomes and thousands of events, and treat PET images as a separate, validated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Data: NACC Freeze 74 and the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572000" cy="20848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0040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Participants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All participants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57,038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First visit, in person, UDS v1–3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55,461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not demented at that visit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38,107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outcome known at 3 years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19,470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   converted to dementia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2,818 (14.5%)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03520" y="1325880"/>
            <a:ext cx="3383280" cy="21031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Three groups, very different risk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Normal: 12,377 (1.6% convert)
MCI: 5,993 (41.5%)
Impaired, not MCI: 1,100 (12.3%)</a:t>
            </a:r>
          </a:p>
        </p:txBody>
      </p:sp>
      <p:pic>
        <p:nvPicPr>
          <p:cNvPr id="7" name="Picture 6" descr="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38868"/>
            <a:ext cx="8229600" cy="19577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06440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Person-level split 70 / 15 / 15; 9 of 46 centres held out; everything learned from data is fitted on training only.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Outcomes and Censoring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  <p:pic>
        <p:nvPicPr>
          <p:cNvPr id="5" name="Picture 4" descr="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4839"/>
            <a:ext cx="8229600" cy="2548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3931920" cy="21945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dementia within 3 years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1 if diagnosed within 3 years; 0 if not and followed for 3 years; otherwise unknown and left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206240"/>
            <a:ext cx="3931920" cy="21945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 outcomes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CDR-SB rise ≥ 1 within 3 years (20,355 people, 5,035 events) and the 3-year change in CDR-SB. A Cox model that keeps censored people gives the same conclusions.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48 Features in Five Categories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29768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and medical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 (z-scores)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 (CDR-SB, diagnosis)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 (APOE ε4, family history)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(second-stage model only)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1325880"/>
            <a:ext cx="365760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Harmonising tests across form versions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Each score is compared with the expected score for the person's age, sex and education (fitted on cognitively normal people): z = (score − expected) / SD. MoCA 21 for a 72-year-old woman with 16 years of education: expected 25.8, z = −1.9.</a:t>
            </a:r>
          </a:p>
        </p:txBody>
      </p:sp>
      <p:pic>
        <p:nvPicPr>
          <p:cNvPr id="7" name="Picture 6" descr="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13" y="3886200"/>
            <a:ext cx="7819372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Methodology: The CardioCog Pipeline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53" y="1325880"/>
            <a:ext cx="8188493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40680"/>
            <a:ext cx="8229600" cy="10058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Rule for every step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Only information available at the index visit is used; anything learned from data is fitted on the training set; results are reported on the test set and on centres never seen in training.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Techniques &amp; Tools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Models compared on the same 48 features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Logistic regression, random forest, </a:t>
            </a:r>
            <a:r>
              <a:rPr sz="1600" b="1">
                <a:solidFill>
                  <a:srgbClr val="1F1F1F"/>
                </a:solidFill>
                <a:latin typeface="Calibri"/>
              </a:rPr>
              <a:t>XGBoost</a:t>
            </a:r>
            <a:r>
              <a:rPr sz="1600" b="0">
                <a:solidFill>
                  <a:srgbClr val="1F1F1F"/>
                </a:solidFill>
                <a:latin typeface="Calibri"/>
              </a:rPr>
              <a:t> (main model), MLP, FT-Transformer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Modality-encoder fusion network with attention, risk and progression heads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Evaluation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AUROC, AUPRC, Brier score, calibration, net benefit; 1,000 bootstrap resamples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Explainability and evidence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SHAP, category ablation, Grad-CAM for the PET CNN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Hybrid retrieval: MiniLM embeddings + BM25, merged by rank fusion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Data and platforms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NACC Freeze 74: UDS clinical visits (v1–3), PET core values and PET images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Python (scikit-learn, XGBoost, PyTorch, SHAP, lifelines, SimpleITK); FastAPI + React prototype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Modality-Encoder Fusion Network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  <p:pic>
        <p:nvPicPr>
          <p:cNvPr id="5" name="Picture 4" descr="fus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71216"/>
            <a:ext cx="8229600" cy="28182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Each category has its own encoder; attention combines the five tokens into one summary.</a:t>
            </a:r>
          </a:p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 missing category gets a learned token; whole categories are hidden with probability 0.35 in training.</a:t>
            </a:r>
          </a:p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Loss: cross-entropy for risk + 0.5 × Huber loss for the CDR-SB change.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Results: Dementia Within Three Years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2468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120"/>
                <a:gridCol w="2011680"/>
                <a:gridCol w="1005840"/>
                <a:gridCol w="914400"/>
                <a:gridCol w="1280160"/>
                <a:gridCol w="9144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Test AUROC (95% CI)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Held-out 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0.936 (0.924–0.949)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0.932 (0.919–0.944)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0.070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0.938 (0.925–0.948)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0.938 (0.926–0.949)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FT-Transformer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0.939 (0.927–0.949)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Test set: 2,286 people, 332 events.  Held-out centres: 4,064 people, 545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What it shows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All five models discriminate well and are well calibrated, at new centres as well as on the test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What it does not show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The intervals overlap almost completely: deep models give no gain over logistic regression or boosted trees.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Is 0.94 Too Good? Results Within Groups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114800" cy="1755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914400"/>
                <a:gridCol w="9144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All not demented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Cognitively normal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0.876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MCI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80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Converters: normal 24 / 37, MCI 289 / 496 (test / held-out).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25880"/>
            <a:ext cx="384048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Critical check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Removing all current-cognition information drops AUROC from 0.937 to 0.746.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Diagnosis alone gives AUROC 0.84, because MCI converts 25 times as often as normal cognition. Within MCI the model still ranks risk at 0.84.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931920"/>
            <a:ext cx="384048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Meaning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The model estimates short-term progression given the current clinical stage. It is not leakage: inputs come from the index visit, the label from later visits.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What Drives the Prediction?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  <p:pic>
        <p:nvPicPr>
          <p:cNvPr id="5" name="Picture 4" descr="06_feature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2456"/>
            <a:ext cx="8229600" cy="230428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931920"/>
          <a:ext cx="731520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1188720"/>
                <a:gridCol w="173736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Alone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Gain added last (test)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Gain (held-out)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+0.022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0.897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 (APOE)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/ medical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0.626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The Cardiovascular Question (RQ2)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  <p:pic>
        <p:nvPicPr>
          <p:cNvPr id="5" name="Picture 4" descr="09_hazard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1958"/>
            <a:ext cx="4297680" cy="21510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37760" y="1325880"/>
            <a:ext cx="3749039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Alone: AUROC </a:t>
            </a:r>
            <a:r>
              <a:rPr sz="1500" b="1">
                <a:solidFill>
                  <a:srgbClr val="1F1F1F"/>
                </a:solidFill>
                <a:latin typeface="Calibri"/>
              </a:rPr>
              <a:t>0.626</a:t>
            </a:r>
            <a:r>
              <a:rPr sz="1500" b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After cognition: </a:t>
            </a:r>
            <a:r>
              <a:rPr sz="1500" b="1">
                <a:solidFill>
                  <a:srgbClr val="1F1F1F"/>
                </a:solidFill>
                <a:latin typeface="Calibri"/>
              </a:rPr>
              <a:t>+0.001</a:t>
            </a:r>
            <a:r>
              <a:rPr sz="1500" b="0">
                <a:solidFill>
                  <a:srgbClr val="1F1F1F"/>
                </a:solidFill>
                <a:latin typeface="Calibri"/>
              </a:rPr>
              <a:t> for dementia, +0.0004 for CDR-SB decline.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Cox model: hypertension HR 0.995; diabetes and stroke ≈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Limited added value in this cohort, not evidence that vascular health is unimportant: median age 71, midlife exposure unobserved, and past damage already shows in the cognitive scores.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Explainability: Shapley Values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19</a:t>
            </a:r>
          </a:p>
        </p:txBody>
      </p:sp>
      <p:pic>
        <p:nvPicPr>
          <p:cNvPr id="5" name="Picture 4" descr="07_shap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1835"/>
            <a:ext cx="5120639" cy="243992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325880"/>
          <a:ext cx="292608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0240"/>
                <a:gridCol w="1005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SHAP share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40.8%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35.0%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15.5%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5.1%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92040"/>
            <a:ext cx="8229600" cy="15544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Each prediction is split into contributions from each feature.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Rankings are stable over 8 refits (Spearman 0.89–0.97).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Low BMI raises the estimated risk: weight loss before diagnosis, not a causal effect.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Cognitive Decline as the Outcome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  <p:pic>
        <p:nvPicPr>
          <p:cNvPr id="5" name="Picture 4" descr="decline_vs_demen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01" y="1325880"/>
            <a:ext cx="8180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26280"/>
            <a:ext cx="393192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CDR-SB rise ≥ 1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20,355 people, 5,035 events. AUROC 0.858 test, 0.885 held-out; within normal cognition 0.76–0.83.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526280"/>
            <a:ext cx="393192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Predicted 3-year CDR-SB change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Mean absolute error 0.69 → 0.60 (test), 0.82 → 0.72 (held-out); MCI 1.90 → 1.59; no gain for normal cognition.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Fusion Network: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pic>
        <p:nvPicPr>
          <p:cNvPr id="5" name="Picture 4" descr="fusion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317" y="1325880"/>
            <a:ext cx="7087364" cy="27432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343400"/>
          <a:ext cx="3840480" cy="15361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1188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Fusion net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MCI (test)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0.831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663440" y="4343400"/>
            <a:ext cx="4023360" cy="21031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Finding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As good as XGBoost but no better. Attention is 18–22% for every category (uniform = 20%), so it does not explain predictions; SHAP and ablation are used instead.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Earlier Visits and PET Measures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pic>
        <p:nvPicPr>
          <p:cNvPr id="5" name="Picture 4" descr="06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4773"/>
            <a:ext cx="5303520" cy="1331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325880"/>
            <a:ext cx="274320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Visit history (RQ5)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Using up to all earlier visits adds +0.000 to +0.005 AUROC.</a:t>
            </a:r>
          </a:p>
        </p:txBody>
      </p:sp>
      <p:pic>
        <p:nvPicPr>
          <p:cNvPr id="7" name="Picture 6" descr="08_conversion_by_amyl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6228"/>
            <a:ext cx="5303520" cy="16373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3657600"/>
            <a:ext cx="2743200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Amyloid and tau PET (RQ3)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In MCI, 34% of amyloid-positive vs 7% of negative people convert within 2 years, but adding PET to the model gives no demonstrable gain (243 people, 33 events).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PET Image Pipeline: DICOM to SUVR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  <p:pic>
        <p:nvPicPr>
          <p:cNvPr id="5" name="Picture 4" descr="11_group_averag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6120"/>
            <a:ext cx="4023360" cy="2948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480560"/>
            <a:ext cx="402336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Group averages only (318 amyloid, 232 tau, 49 FDG scans).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32918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Convert:</a:t>
            </a:r>
            <a:r>
              <a:rPr sz="1500" b="0">
                <a:solidFill>
                  <a:srgbClr val="1F1F1F"/>
                </a:solidFill>
                <a:latin typeface="Calibri"/>
              </a:rPr>
              <a:t> 599 dynamic DICOM series → one static volume.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Register:</a:t>
            </a:r>
            <a:r>
              <a:rPr sz="1500" b="0">
                <a:solidFill>
                  <a:srgbClr val="1F1F1F"/>
                </a:solidFill>
                <a:latin typeface="Calibri"/>
              </a:rPr>
              <a:t> to MNI152, then to a study PET template.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Quantify:</a:t>
            </a:r>
            <a:r>
              <a:rPr sz="1500" b="0">
                <a:solidFill>
                  <a:srgbClr val="1F1F1F"/>
                </a:solidFill>
                <a:latin typeface="Calibri"/>
              </a:rPr>
              <a:t> SUVR = mean cortex ÷ mean cerebellum.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Validation against the NACC PET core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Pearson r = 0.977 over 318 scans (0.96–0.99 per tracer); mean difference −0.043.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3D CNN for Amyloid Status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  <p:pic>
        <p:nvPicPr>
          <p:cNvPr id="5" name="Picture 4" descr="11_gradcam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4589"/>
            <a:ext cx="4023360" cy="290010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325880"/>
          <a:ext cx="3931920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3200"/>
                <a:gridCol w="1188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Method (292 scans, 84 positive)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Cortical SUVR (one number)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Regional logistic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0.971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3D CNN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54880" y="3154680"/>
            <a:ext cx="3931920" cy="13716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The image model works, but the label itself comes from cortical SUVR, so one number is hard to 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8229600" cy="1645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Limitation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Grad-CAM maps were diffuse, and only 5 imaged people converted, so images were not used to predict dementia.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Validation: Calibration, Usefulness, Missing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  <p:pic>
        <p:nvPicPr>
          <p:cNvPr id="5" name="Picture 4" descr="09_decis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96" y="1325880"/>
            <a:ext cx="8226806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60520"/>
            <a:ext cx="3840480" cy="22860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Predicted 14.5% = observed 14.5% (test).</a:t>
            </a:r>
          </a:p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At 20% risk: sensitivity 83%, specificity 88%.</a:t>
            </a:r>
          </a:p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Useful (net benefit) from 2% to 60% risk.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80560" y="4160520"/>
          <a:ext cx="4206238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16832"/>
                <a:gridCol w="815495"/>
                <a:gridCol w="815495"/>
                <a:gridCol w="8584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Brier score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Dropout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Specialist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Everything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0.185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cognition at all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0.441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Demographics only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0.444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80560" y="5989320"/>
            <a:ext cx="420624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Modality dropout keeps one model close to a specialist model.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Prototype for Clinicians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  <p:pic>
        <p:nvPicPr>
          <p:cNvPr id="5" name="Picture 4" descr="app_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4318" y="1325880"/>
            <a:ext cx="311880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25880"/>
            <a:ext cx="438912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10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Example: 72-year-old woman, 16 years of education, MCI, CDR-SB 2, MoCA 21.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FastAPI + React; the form is generated from the 48 trained features.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Risk shown next to the observed rate of similar people, with SHAP by category.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Plausibility checks flag contradictory entries.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27 of 28 behaviour checks pass.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Plain-Language Report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  <p:pic>
        <p:nvPicPr>
          <p:cNvPr id="5" name="Picture 4" descr="app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137" y="1325880"/>
            <a:ext cx="3670285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25880"/>
            <a:ext cx="420624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Summary:</a:t>
            </a:r>
            <a:r>
              <a:rPr sz="1500" b="0">
                <a:solidFill>
                  <a:srgbClr val="1F1F1F"/>
                </a:solidFill>
                <a:latin typeface="Calibri"/>
              </a:rPr>
              <a:t> risk next to the observed rate of similar people (39% vs 40%).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Main reasons:</a:t>
            </a:r>
            <a:r>
              <a:rPr sz="1500" b="0">
                <a:solidFill>
                  <a:srgbClr val="1F1F1F"/>
                </a:solidFill>
                <a:latin typeface="Calibri"/>
              </a:rPr>
              <a:t> largest SHAP contributions in plain words.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Reliability:</a:t>
            </a:r>
            <a:r>
              <a:rPr sz="1500" b="0">
                <a:solidFill>
                  <a:srgbClr val="1F1F1F"/>
                </a:solidFill>
                <a:latin typeface="Calibri"/>
              </a:rPr>
              <a:t> missing categories and warnings.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Published evidence:</a:t>
            </a:r>
            <a:r>
              <a:rPr sz="1500" b="0">
                <a:solidFill>
                  <a:srgbClr val="1F1F1F"/>
                </a:solidFill>
                <a:latin typeface="Calibri"/>
              </a:rPr>
              <a:t> quoted passages with their source.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Limits:</a:t>
            </a:r>
            <a:r>
              <a:rPr sz="1500" b="0">
                <a:solidFill>
                  <a:srgbClr val="1F1F1F"/>
                </a:solidFill>
                <a:latin typeface="Calibri"/>
              </a:rPr>
              <a:t> a fixed statement that it is not a diagnosis.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500" b="0">
                <a:solidFill>
                  <a:srgbClr val="595959"/>
                </a:solidFill>
                <a:latin typeface="Calibri"/>
              </a:rPr>
              <a:t>Evidence is quoted, never generated, so the report cannot state anything the model or the literature did not provide.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Evidence Assistant (RAG)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  <p:pic>
        <p:nvPicPr>
          <p:cNvPr id="5" name="Picture 4" descr="app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0401"/>
            <a:ext cx="8229600" cy="2348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77639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MiniLM embeddings + BM25 keyword search, merged by rank fusion.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If nothing is similar enough, it says the library has no evidence.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3977639"/>
          <a:ext cx="4114800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1188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Test (11 papers, 447 passages)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source first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32 / 32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Personal-advice questions flagged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Out-of-scope questions declined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Independent Verification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599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54880"/>
                <a:gridCol w="3474719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person or held-out centre in more than one partition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shared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Features unchanged when all later visits are deleted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Identical (1,500 people × 67 features)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PET value newer than the visit that uses it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of 1,481 amyloid, 713 tau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Labels recomputed independently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disagreements in 11,403 visits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Shuffled labels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AUROC 0.508 (chance)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Retrain with a new seed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0.937 / 0.946 (reported 0.938 / 0.946)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822960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Errors the checks found, and we fixed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Education and race filled from a later visit (0.1% of people); PET scans matched to visits weeks before the scan. After fixing, every model was retrained; results moved only in the third decimal. 17 of 17 checks pass.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What Each Research Question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1760"/>
                <a:gridCol w="5577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Research question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RQ1 Prediction accuracy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Dementia 0.94 (0.84 in MCI); decline 0.86 (0.75 in MCI)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RQ2 Cardiovascular history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+0.001 AUROC once cognition is known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RQ3 Amyloid and tau PET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Strong association, no demonstrable gain yet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RQ4 Deep models / fusion net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No gain over logistic regression or 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RQ5 Earlier visits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+0.000 to +0.005 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RQ6 Missing categories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Modality dropout keeps calibration close to specialist models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RQ7 Explanation and evidence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SHAP, plausibility checks, report with quoted evidence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212080"/>
            <a:ext cx="8229600" cy="12801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Final takeaway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Current cognitive and functional status carries most of the three-year signal; vascular and genetic history add little once it is known.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Limitations &amp; Future 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Held-out centres are still within NACC; validation on another cohort is the next step.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NACC is a research cohort, mostly White and highly educated; about half of eligible people lacked a 3-year outcome.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Few cognitively normal converters; normal cognition needs a 5- to 10-year model.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Richer vascular data (repeated blood pressure, treatment, imaging) may capture what yes/no history misses.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PET registered without MRI and tau not quantified; longer follow-up will allow a proper PET test.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Evidence library of 11 papers; a larger curated library would help.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Industry / Research Relevance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Clinical screening:</a:t>
            </a:r>
            <a:r>
              <a:rPr sz="1800" b="0">
                <a:solidFill>
                  <a:srgbClr val="1F1F1F"/>
                </a:solidFill>
                <a:latin typeface="Calibri"/>
              </a:rPr>
              <a:t> flags elevated short-term risk for earlier specialist follow-up, with reasons and evidence, without making a diagnosis.</a:t>
            </a:r>
          </a:p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Clinical trials:</a:t>
            </a:r>
            <a:r>
              <a:rPr sz="1800" b="0">
                <a:solidFill>
                  <a:srgbClr val="1F1F1F"/>
                </a:solidFill>
                <a:latin typeface="Calibri"/>
              </a:rPr>
              <a:t> within MCI the model ranks risk at AUROC 0.84, which helps select people likely to progress.</a:t>
            </a:r>
          </a:p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Research:</a:t>
            </a:r>
            <a:r>
              <a:rPr sz="1800" b="0">
                <a:solidFill>
                  <a:srgbClr val="1F1F1F"/>
                </a:solidFill>
                <a:latin typeface="Calibri"/>
              </a:rPr>
              <a:t> a reusable method for measuring what each data source adds and for checking a pipeline against information leakage.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Team Roles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34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530352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Responsibility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Bhargav, Hansika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Cardiovascular and demographic features, baseline models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Akhil, Bhargav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Visit-history models, CDR-SB progression regression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Mahidhar, Hansika, Bhargav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PET image pipeline and 3D CNN, modality-encoder fusion network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Akhil, Hansika, Mahidhar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RAG evidence assistant, evaluation framework, ablations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212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[1] G. Livingston et al., "Dementia prevention, intervention, and care: 2020 report of the Lancet Commission," The Lancet, vol. 396, pp. 413–446,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[2] S. A. Alaka et al., "Enhancing the validity of CAIDE dementia risk scores with resting heart rate and machine learning: an analysis from the National Alzheimer's Coordinating Center," Alzheimer's &amp; Dementia, vol. 21, e70442, 2025.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[3] A. Stern and M. Linial, "Integrative machine learning approach to risk prediction for dementia and Alzheimer's disease," GeroScience, vol. 48, pp. 3007–3023, 2026.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[4] D. Aschwanden et al., "Predicting cognitive impairment and dementia: a machine learning approach," J. Alzheimer's Disease, vol. 75, pp. 717–728,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[5] F. Yi et al., "XGBoost-SHAP-based interpretable diagnostic framework for Alzheimer's disease," BMC Med. Inform. Decis. Mak., vol. 23, 137, 2023.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[6] Y. Gorishniy et al., "Revisiting deep learning models for tabular data," NeurIPS, vol. 34, 2021.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[7] P. Lewis et al., "Retrieval-augmented generation for knowledge-intensive NLP tasks," NeurIPS, vol. 33,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[8] T. Chen and C. Guestrin, "XGBoost: a scalable tree boosting system," Proc. ACM SIGKDD, pp. 785–794, 2016.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[9] S. M. Lundberg and S.-I. Lee, "A unified approach to interpreting model predictions," NeurIPS, vol. 30, 2017.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[10] W. E. Klunk et al., "The Centiloid Project: standardizing quantitative amyloid plaque estimation by PET," Alzheimer's &amp; Dementia, vol. 11, pp. 1–15, 2015.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8046720" cy="1188720"/>
          </a:xfrm>
        </p:spPr>
        <p:txBody>
          <a:bodyPr wrap="square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sz="4400" b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566160"/>
            <a:ext cx="8229600" cy="2560320"/>
          </a:xfrm>
        </p:spPr>
        <p:txBody>
          <a:bodyPr vert="horz" lIns="91440" tIns="45720" rIns="91440" bIns="45720" rtlCol="0" anchor="t" wrap="square"/>
          <a:lstStyle/>
          <a:p>
            <a:pPr marL="0" indent="0" algn="ctr">
              <a:spcAft>
                <a:spcPts val="2800"/>
              </a:spcAft>
              <a:buNone/>
            </a:pPr>
            <a:r>
              <a:rPr sz="2000" b="0">
                <a:solidFill>
                  <a:srgbClr val="1F1F1F"/>
                </a:solidFill>
                <a:latin typeface="Calibri"/>
              </a:rPr>
              <a:t>Questions are welcome.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sz="1300" b="0">
                <a:solidFill>
                  <a:srgbClr val="595959"/>
                </a:solidFill>
                <a:latin typeface="Calibri"/>
              </a:rPr>
              <a:t>Data: National Alzheimer's Coordinating Center (NACC), Freeze 74, used under the NACC data use agreement. All results are aggregates.</a:t>
            </a:r>
          </a:p>
        </p:txBody>
      </p:sp>
      <p:pic>
        <p:nvPicPr>
          <p:cNvPr id="4" name="Picture 3" descr="1ebf939e-38c1-4044-bb92-b6712d24a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611" y="91440"/>
            <a:ext cx="5332778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2200</Words>
  <Application>Microsoft Office PowerPoint</Application>
  <PresentationFormat>On-screen Show (4:3)</PresentationFormat>
  <Paragraphs>159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CardioCog: Cognitive Health Assessment and Early Prediction of Cognitive Decline Using Cardiovascular, Genetic, and Clinical factors</vt:lpstr>
      <vt:lpstr>Introduction &amp; Motivation</vt:lpstr>
      <vt:lpstr>PowerPoint Presentation</vt:lpstr>
      <vt:lpstr>PowerPoint Presentation</vt:lpstr>
      <vt:lpstr>Research Gap and addressing it </vt:lpstr>
      <vt:lpstr>Problem Statement</vt:lpstr>
      <vt:lpstr>Objectives</vt:lpstr>
      <vt:lpstr>Proposed Methodology / Framework</vt:lpstr>
      <vt:lpstr>Techniques &amp; Tools</vt:lpstr>
      <vt:lpstr>Expected Outcomes</vt:lpstr>
      <vt:lpstr>Industry /Research Relevance</vt:lpstr>
      <vt:lpstr>Timeline</vt:lpstr>
      <vt:lpstr>Team Roles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bhargav P</dc:creator>
  <cp:keywords/>
  <dc:description>generated using python-pptx</dc:description>
  <cp:lastModifiedBy>bhargav P</cp:lastModifiedBy>
  <cp:revision>416</cp:revision>
  <dcterms:created xsi:type="dcterms:W3CDTF">2013-01-27T09:14:16Z</dcterms:created>
  <dcterms:modified xsi:type="dcterms:W3CDTF">2026-08-04T02:44:13Z</dcterms:modified>
  <cp:category/>
</cp:coreProperties>
</file>