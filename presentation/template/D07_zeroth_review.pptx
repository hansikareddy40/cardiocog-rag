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1" r:id="rId4"/>
    <p:sldId id="272" r:id="rId5"/>
    <p:sldId id="259" r:id="rId6"/>
    <p:sldId id="260" r:id="rId7"/>
    <p:sldId id="261" r:id="rId8"/>
    <p:sldId id="262" r:id="rId9"/>
    <p:sldId id="263" r:id="rId10"/>
    <p:sldId id="264" r:id="rId11"/>
    <p:sldId id="265" r:id="rId12"/>
    <p:sldId id="266" r:id="rId13"/>
    <p:sldId id="267" r:id="rId14"/>
    <p:sldId id="268"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899F4A-0CC4-D23F-E208-D9865C1B5E55}" v="1719" dt="2026-08-03T22:59:42.4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142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800" dirty="0" err="1">
                <a:ea typeface="+mj-lt"/>
                <a:cs typeface="+mj-lt"/>
              </a:rPr>
              <a:t>CardioCog</a:t>
            </a:r>
            <a:r>
              <a:rPr lang="en-US" sz="2800" dirty="0">
                <a:ea typeface="+mj-lt"/>
                <a:cs typeface="+mj-lt"/>
              </a:rPr>
              <a:t>: Cognitive Health Assessment and Early Prediction of Cognitive Decline Using Cardiovascular, Genetic, and Clinical factors</a:t>
            </a:r>
            <a:endParaRPr lang="en-US" sz="2400" dirty="0">
              <a:ea typeface="Calibri"/>
              <a:cs typeface="Calibri"/>
            </a:endParaRPr>
          </a:p>
        </p:txBody>
      </p:sp>
      <p:sp>
        <p:nvSpPr>
          <p:cNvPr id="3" name="Subtitle 2"/>
          <p:cNvSpPr>
            <a:spLocks noGrp="1"/>
          </p:cNvSpPr>
          <p:nvPr>
            <p:ph type="subTitle" idx="1"/>
          </p:nvPr>
        </p:nvSpPr>
        <p:spPr>
          <a:xfrm>
            <a:off x="457200" y="3886200"/>
            <a:ext cx="7936992" cy="2240280"/>
          </a:xfrm>
        </p:spPr>
        <p:txBody>
          <a:bodyPr vert="horz" lIns="91440" tIns="45720" rIns="91440" bIns="45720" rtlCol="0" anchor="t">
            <a:normAutofit fontScale="47500" lnSpcReduction="20000"/>
          </a:bodyPr>
          <a:lstStyle/>
          <a:p>
            <a:endParaRPr dirty="0"/>
          </a:p>
          <a:p>
            <a:r>
              <a:rPr dirty="0"/>
              <a:t>Student Details:</a:t>
            </a:r>
          </a:p>
          <a:p>
            <a:r>
              <a:rPr dirty="0"/>
              <a:t>1. </a:t>
            </a:r>
            <a:r>
              <a:rPr lang="en-US" dirty="0"/>
              <a:t>Akula Akhil Vighnesh </a:t>
            </a:r>
            <a:r>
              <a:rPr dirty="0"/>
              <a:t>– </a:t>
            </a:r>
            <a:r>
              <a:rPr lang="en-US"/>
              <a:t>CB</a:t>
            </a:r>
            <a:r>
              <a:t>.</a:t>
            </a:r>
            <a:r>
              <a:rPr lang="en-US"/>
              <a:t>SC.U4AIE23303</a:t>
            </a:r>
            <a:endParaRPr>
              <a:ea typeface="Calibri"/>
              <a:cs typeface="Calibri"/>
            </a:endParaRPr>
          </a:p>
          <a:p>
            <a:r>
              <a:rPr dirty="0"/>
              <a:t>2. </a:t>
            </a:r>
            <a:r>
              <a:rPr lang="en-US" dirty="0"/>
              <a:t>Vada Gouri Hansika Reddy </a:t>
            </a:r>
            <a:r>
              <a:rPr dirty="0"/>
              <a:t>– </a:t>
            </a:r>
            <a:r>
              <a:rPr lang="en-US"/>
              <a:t>CB</a:t>
            </a:r>
            <a:r>
              <a:t>.</a:t>
            </a:r>
            <a:r>
              <a:rPr lang="en-US"/>
              <a:t>SC.U4AIE23304</a:t>
            </a:r>
            <a:endParaRPr>
              <a:ea typeface="Calibri"/>
              <a:cs typeface="Calibri"/>
            </a:endParaRPr>
          </a:p>
          <a:p>
            <a:r>
              <a:rPr dirty="0"/>
              <a:t>3. </a:t>
            </a:r>
            <a:r>
              <a:rPr lang="en-US" dirty="0"/>
              <a:t>Pilli Venkata Bhargav Reddy </a:t>
            </a:r>
            <a:r>
              <a:rPr dirty="0"/>
              <a:t>– </a:t>
            </a:r>
            <a:r>
              <a:rPr lang="en-US"/>
              <a:t>CB</a:t>
            </a:r>
            <a:r>
              <a:t>.</a:t>
            </a:r>
            <a:r>
              <a:rPr lang="en-US"/>
              <a:t>SC.U4AIE23329</a:t>
            </a:r>
            <a:endParaRPr>
              <a:ea typeface="Calibri"/>
              <a:cs typeface="Calibri"/>
            </a:endParaRPr>
          </a:p>
          <a:p>
            <a:r>
              <a:rPr dirty="0"/>
              <a:t>4. </a:t>
            </a:r>
            <a:r>
              <a:rPr lang="en-US" dirty="0"/>
              <a:t>Marella Venkata Mahidhar Reddy </a:t>
            </a:r>
            <a:r>
              <a:rPr dirty="0"/>
              <a:t>– </a:t>
            </a:r>
            <a:r>
              <a:rPr lang="en-US"/>
              <a:t>CB</a:t>
            </a:r>
            <a:r>
              <a:t>.</a:t>
            </a:r>
            <a:r>
              <a:rPr lang="en-US"/>
              <a:t>SC.U4AIE23354</a:t>
            </a:r>
            <a:endParaRPr lang="en-US" dirty="0">
              <a:ea typeface="Calibri"/>
              <a:cs typeface="Calibri"/>
            </a:endParaRPr>
          </a:p>
          <a:p>
            <a:endParaRPr lang="en-IN" dirty="0"/>
          </a:p>
          <a:p>
            <a:r>
              <a:rPr lang="en-IN"/>
              <a:t>Team Number: D07</a:t>
            </a:r>
            <a:endParaRPr lang="en-IN">
              <a:ea typeface="Calibri"/>
              <a:cs typeface="Calibri"/>
            </a:endParaRPr>
          </a:p>
          <a:p>
            <a:r>
              <a:rPr lang="en-IN" dirty="0"/>
              <a:t>Supervisor: </a:t>
            </a:r>
            <a:r>
              <a:rPr lang="en-IN" dirty="0" err="1"/>
              <a:t>Dr.Manoj</a:t>
            </a:r>
            <a:r>
              <a:rPr lang="en-IN" dirty="0"/>
              <a:t> Bhat.K</a:t>
            </a:r>
            <a:endParaRPr lang="en-IN" dirty="0">
              <a:ea typeface="Calibri"/>
              <a:cs typeface="Calibri"/>
            </a:endParaRPr>
          </a:p>
          <a:p>
            <a:endParaRPr dirty="0"/>
          </a:p>
        </p:txBody>
      </p:sp>
      <p:pic>
        <p:nvPicPr>
          <p:cNvPr id="4" name="Picture 3" descr="1ebf939e-38c1-4044-bb92-b6712d24adcc.png"/>
          <p:cNvPicPr>
            <a:picLocks noChangeAspect="1"/>
          </p:cNvPicPr>
          <p:nvPr/>
        </p:nvPicPr>
        <p:blipFill>
          <a:blip r:embed="rId2"/>
          <a:stretch>
            <a:fillRect/>
          </a:stretch>
        </p:blipFill>
        <p:spPr>
          <a:xfrm>
            <a:off x="1905611" y="91440"/>
            <a:ext cx="5332778" cy="9326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Introduction &amp; Motivation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vert="horz" lIns="91440" tIns="45720" rIns="91440" bIns="45720" rtlCol="0">
            <a:normAutofit/>
          </a:bodyPr>
          <a:lstStyle/>
          <a:p>
            <a:pPr marL="0" indent="0">
              <a:lnSpc>
                <a:spcPct val="90000"/>
              </a:lnSpc>
              <a:buNone/>
            </a:pPr>
            <a:r>
              <a:rPr lang="en-US" sz="1600" b="1">
                <a:ea typeface="+mn-lt"/>
                <a:cs typeface="+mn-lt"/>
              </a:rPr>
              <a:t>Domain</a:t>
            </a:r>
            <a:r>
              <a:rPr lang="en-US" sz="1600">
                <a:ea typeface="+mn-lt"/>
                <a:cs typeface="+mn-lt"/>
              </a:rPr>
              <a:t>: AI/Healthcare Analytics/XAI/Biomedical Data Science</a:t>
            </a:r>
          </a:p>
          <a:p>
            <a:pPr marL="0" indent="0">
              <a:lnSpc>
                <a:spcPct val="90000"/>
              </a:lnSpc>
              <a:buNone/>
            </a:pPr>
            <a:r>
              <a:rPr lang="en-US" sz="1600" b="1">
                <a:ea typeface="+mn-lt"/>
                <a:cs typeface="+mn-lt"/>
              </a:rPr>
              <a:t>Introduction</a:t>
            </a:r>
          </a:p>
          <a:p>
            <a:pPr>
              <a:lnSpc>
                <a:spcPct val="90000"/>
              </a:lnSpc>
            </a:pPr>
            <a:r>
              <a:rPr lang="en-US" sz="1600">
                <a:ea typeface="+mn-lt"/>
                <a:cs typeface="+mn-lt"/>
              </a:rPr>
              <a:t>Dementia and Alzheimer's disease are rapidly increasing worldwide, affecting memory, thinking ability, and the quality of life of millions of people. </a:t>
            </a:r>
            <a:endParaRPr lang="en-US" sz="1600"/>
          </a:p>
          <a:p>
            <a:pPr>
              <a:lnSpc>
                <a:spcPct val="90000"/>
              </a:lnSpc>
            </a:pPr>
            <a:r>
              <a:rPr lang="en-US" sz="1600">
                <a:ea typeface="+mn-lt"/>
                <a:cs typeface="+mn-lt"/>
              </a:rPr>
              <a:t>Research indicates that cardiovascular conditions such as hypertension, diabetes, obesity, and stroke are strongly associated with an increased risk of cognitive decline and dementia. </a:t>
            </a:r>
            <a:endParaRPr lang="en-US" sz="1600"/>
          </a:p>
          <a:p>
            <a:pPr>
              <a:lnSpc>
                <a:spcPct val="90000"/>
              </a:lnSpc>
            </a:pPr>
            <a:r>
              <a:rPr lang="en-US" sz="1600">
                <a:ea typeface="+mn-lt"/>
                <a:cs typeface="+mn-lt"/>
              </a:rPr>
              <a:t>Early prediction using Artificial Intelligence can help identify high-risk individuals, enabling timely intervention and supporting better clinical decision-making.</a:t>
            </a:r>
            <a:endParaRPr lang="en-US" sz="1600"/>
          </a:p>
          <a:p>
            <a:pPr marL="0" indent="0">
              <a:lnSpc>
                <a:spcPct val="90000"/>
              </a:lnSpc>
              <a:buNone/>
            </a:pPr>
            <a:r>
              <a:rPr lang="en-US" sz="1600" b="1">
                <a:ea typeface="+mn-lt"/>
                <a:cs typeface="+mn-lt"/>
              </a:rPr>
              <a:t>Motivation and Need in the outside world</a:t>
            </a:r>
          </a:p>
          <a:p>
            <a:pPr>
              <a:lnSpc>
                <a:spcPct val="90000"/>
              </a:lnSpc>
            </a:pPr>
            <a:r>
              <a:rPr lang="en-US" sz="1600" dirty="0">
                <a:ea typeface="+mn-lt"/>
                <a:cs typeface="+mn-lt"/>
              </a:rPr>
              <a:t>Cognitive decline often becomes irreversible once it's clinically noticeable, so early detection is the main window where intervention can actually slow or delay progression.</a:t>
            </a:r>
            <a:endParaRPr lang="en-US" sz="1600" dirty="0">
              <a:ea typeface="Calibri"/>
              <a:cs typeface="Calibri"/>
            </a:endParaRPr>
          </a:p>
          <a:p>
            <a:pPr>
              <a:lnSpc>
                <a:spcPct val="90000"/>
              </a:lnSpc>
            </a:pPr>
            <a:r>
              <a:rPr lang="en-US" sz="1600">
                <a:ea typeface="+mn-lt"/>
                <a:cs typeface="+mn-lt"/>
              </a:rPr>
              <a:t>Catching decline early allows for simple, low-cost interventions (lifestyle changes, medication, monitoring) instead of intensive care needed at later, more severe stages.</a:t>
            </a:r>
            <a:endParaRPr lang="en-US" sz="1600">
              <a:ea typeface="Calibri"/>
              <a:cs typeface="Calibri"/>
            </a:endParaRPr>
          </a:p>
          <a:p>
            <a:pPr>
              <a:lnSpc>
                <a:spcPct val="90000"/>
              </a:lnSpc>
            </a:pPr>
            <a:r>
              <a:rPr lang="en-US" sz="1600">
                <a:ea typeface="+mn-lt"/>
                <a:cs typeface="+mn-lt"/>
              </a:rPr>
              <a:t>Early diagnosis gives patients and families more time to plan — for care, finances, and support — before the condition significantly affects independence.</a:t>
            </a:r>
            <a:endParaRPr lang="en-US" sz="1600">
              <a:ea typeface="Calibri"/>
              <a:cs typeface="Calibri"/>
            </a:endParaRPr>
          </a:p>
          <a:p>
            <a:pPr marL="0" indent="0">
              <a:lnSpc>
                <a:spcPct val="90000"/>
              </a:lnSpc>
              <a:buNone/>
            </a:pPr>
            <a:endParaRPr lang="en-US" sz="1600">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C84DB5-0B2E-31DE-A124-60FC20E2BE5E}"/>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A8A14419-B4FD-F6FC-90BF-04AACFE2C0D8}"/>
              </a:ext>
            </a:extLst>
          </p:cNvPr>
          <p:cNvGraphicFramePr>
            <a:graphicFrameLocks noGrp="1"/>
          </p:cNvGraphicFramePr>
          <p:nvPr>
            <p:extLst>
              <p:ext uri="{D42A27DB-BD31-4B8C-83A1-F6EECF244321}">
                <p14:modId xmlns:p14="http://schemas.microsoft.com/office/powerpoint/2010/main" val="2881687678"/>
              </p:ext>
            </p:extLst>
          </p:nvPr>
        </p:nvGraphicFramePr>
        <p:xfrm>
          <a:off x="487680" y="1645920"/>
          <a:ext cx="8178801" cy="4482035"/>
        </p:xfrm>
        <a:graphic>
          <a:graphicData uri="http://schemas.openxmlformats.org/drawingml/2006/table">
            <a:tbl>
              <a:tblPr firstRow="1" bandRow="1">
                <a:noFill/>
                <a:tableStyleId>{5C22544A-7EE6-4342-B048-85BDC9FD1C3A}</a:tableStyleId>
              </a:tblPr>
              <a:tblGrid>
                <a:gridCol w="288844">
                  <a:extLst>
                    <a:ext uri="{9D8B030D-6E8A-4147-A177-3AD203B41FA5}">
                      <a16:colId xmlns:a16="http://schemas.microsoft.com/office/drawing/2014/main" val="2786701825"/>
                    </a:ext>
                  </a:extLst>
                </a:gridCol>
                <a:gridCol w="1688442">
                  <a:extLst>
                    <a:ext uri="{9D8B030D-6E8A-4147-A177-3AD203B41FA5}">
                      <a16:colId xmlns:a16="http://schemas.microsoft.com/office/drawing/2014/main" val="2526421851"/>
                    </a:ext>
                  </a:extLst>
                </a:gridCol>
                <a:gridCol w="1243945">
                  <a:extLst>
                    <a:ext uri="{9D8B030D-6E8A-4147-A177-3AD203B41FA5}">
                      <a16:colId xmlns:a16="http://schemas.microsoft.com/office/drawing/2014/main" val="243686744"/>
                    </a:ext>
                  </a:extLst>
                </a:gridCol>
                <a:gridCol w="1893595">
                  <a:extLst>
                    <a:ext uri="{9D8B030D-6E8A-4147-A177-3AD203B41FA5}">
                      <a16:colId xmlns:a16="http://schemas.microsoft.com/office/drawing/2014/main" val="1699388536"/>
                    </a:ext>
                  </a:extLst>
                </a:gridCol>
                <a:gridCol w="1521626">
                  <a:extLst>
                    <a:ext uri="{9D8B030D-6E8A-4147-A177-3AD203B41FA5}">
                      <a16:colId xmlns:a16="http://schemas.microsoft.com/office/drawing/2014/main" val="421965087"/>
                    </a:ext>
                  </a:extLst>
                </a:gridCol>
                <a:gridCol w="1542349">
                  <a:extLst>
                    <a:ext uri="{9D8B030D-6E8A-4147-A177-3AD203B41FA5}">
                      <a16:colId xmlns:a16="http://schemas.microsoft.com/office/drawing/2014/main" val="1363697214"/>
                    </a:ext>
                  </a:extLst>
                </a:gridCol>
              </a:tblGrid>
              <a:tr h="271764">
                <a:tc>
                  <a:txBody>
                    <a:bodyPr/>
                    <a:lstStyle/>
                    <a:p>
                      <a:pPr algn="l">
                        <a:buNone/>
                      </a:pPr>
                      <a:r>
                        <a:rPr lang="en-US" sz="900" b="0" cap="none" spc="60">
                          <a:solidFill>
                            <a:schemeClr val="bg1"/>
                          </a:solidFill>
                          <a:effectLst/>
                          <a:latin typeface="Arial"/>
                        </a:rPr>
                        <a:t>No.</a:t>
                      </a:r>
                    </a:p>
                  </a:txBody>
                  <a:tcPr marL="20916" marR="20916" marT="25099" marB="20916" anchor="ctr">
                    <a:lnL w="12700" cmpd="sng">
                      <a:noFill/>
                    </a:lnL>
                    <a:lnR w="12700" cmpd="sng">
                      <a:noFill/>
                    </a:lnR>
                    <a:lnT w="19050" cap="flat" cmpd="sng" algn="ctr">
                      <a:noFill/>
                      <a:prstDash val="solid"/>
                    </a:lnT>
                    <a:lnB w="38100" cmpd="sng">
                      <a:noFill/>
                    </a:lnB>
                    <a:solidFill>
                      <a:schemeClr val="accent1"/>
                    </a:solidFill>
                  </a:tcPr>
                </a:tc>
                <a:tc>
                  <a:txBody>
                    <a:bodyPr/>
                    <a:lstStyle/>
                    <a:p>
                      <a:pPr algn="l">
                        <a:buNone/>
                      </a:pPr>
                      <a:r>
                        <a:rPr lang="en-US" sz="900" b="0" cap="none" spc="60">
                          <a:solidFill>
                            <a:schemeClr val="bg1"/>
                          </a:solidFill>
                          <a:effectLst/>
                          <a:latin typeface="Arial"/>
                        </a:rPr>
                        <a:t>Paper / Year (full title)</a:t>
                      </a:r>
                    </a:p>
                  </a:txBody>
                  <a:tcPr marL="20916" marR="20916" marT="25099" marB="20916" anchor="ctr">
                    <a:lnL w="12700" cmpd="sng">
                      <a:noFill/>
                    </a:lnL>
                    <a:lnR w="12700" cmpd="sng">
                      <a:noFill/>
                    </a:lnR>
                    <a:lnT w="19050" cap="flat" cmpd="sng" algn="ctr">
                      <a:noFill/>
                      <a:prstDash val="solid"/>
                    </a:lnT>
                    <a:lnB w="38100" cmpd="sng">
                      <a:noFill/>
                    </a:lnB>
                    <a:solidFill>
                      <a:schemeClr val="accent1"/>
                    </a:solidFill>
                  </a:tcPr>
                </a:tc>
                <a:tc>
                  <a:txBody>
                    <a:bodyPr/>
                    <a:lstStyle/>
                    <a:p>
                      <a:pPr algn="l">
                        <a:buNone/>
                      </a:pPr>
                      <a:r>
                        <a:rPr lang="en-US" sz="900" b="0" cap="none" spc="60">
                          <a:solidFill>
                            <a:schemeClr val="bg1"/>
                          </a:solidFill>
                          <a:effectLst/>
                          <a:latin typeface="Arial"/>
                        </a:rPr>
                        <a:t>Dataset (short)</a:t>
                      </a:r>
                    </a:p>
                  </a:txBody>
                  <a:tcPr marL="20916" marR="20916" marT="25099" marB="20916" anchor="ctr">
                    <a:lnL w="12700" cmpd="sng">
                      <a:noFill/>
                    </a:lnL>
                    <a:lnR w="12700" cmpd="sng">
                      <a:noFill/>
                    </a:lnR>
                    <a:lnT w="19050" cap="flat" cmpd="sng" algn="ctr">
                      <a:noFill/>
                      <a:prstDash val="solid"/>
                    </a:lnT>
                    <a:lnB w="38100" cmpd="sng">
                      <a:noFill/>
                    </a:lnB>
                    <a:solidFill>
                      <a:schemeClr val="accent1"/>
                    </a:solidFill>
                  </a:tcPr>
                </a:tc>
                <a:tc>
                  <a:txBody>
                    <a:bodyPr/>
                    <a:lstStyle/>
                    <a:p>
                      <a:pPr algn="l">
                        <a:buNone/>
                      </a:pPr>
                      <a:r>
                        <a:rPr lang="en-US" sz="900" b="0" cap="none" spc="60">
                          <a:solidFill>
                            <a:schemeClr val="bg1"/>
                          </a:solidFill>
                          <a:effectLst/>
                          <a:latin typeface="Arial"/>
                        </a:rPr>
                        <a:t>Method / Technique (full)</a:t>
                      </a:r>
                    </a:p>
                  </a:txBody>
                  <a:tcPr marL="20916" marR="20916" marT="25099" marB="20916" anchor="ctr">
                    <a:lnL w="12700" cmpd="sng">
                      <a:noFill/>
                    </a:lnL>
                    <a:lnR w="12700" cmpd="sng">
                      <a:noFill/>
                    </a:lnR>
                    <a:lnT w="19050" cap="flat" cmpd="sng" algn="ctr">
                      <a:noFill/>
                      <a:prstDash val="solid"/>
                    </a:lnT>
                    <a:lnB w="38100" cmpd="sng">
                      <a:noFill/>
                    </a:lnB>
                    <a:solidFill>
                      <a:schemeClr val="accent1"/>
                    </a:solidFill>
                  </a:tcPr>
                </a:tc>
                <a:tc>
                  <a:txBody>
                    <a:bodyPr/>
                    <a:lstStyle/>
                    <a:p>
                      <a:pPr algn="l">
                        <a:buNone/>
                      </a:pPr>
                      <a:r>
                        <a:rPr lang="en-US" sz="900" b="0" cap="none" spc="60">
                          <a:solidFill>
                            <a:schemeClr val="bg1"/>
                          </a:solidFill>
                          <a:effectLst/>
                          <a:latin typeface="Arial"/>
                        </a:rPr>
                        <a:t>Key Result (short)</a:t>
                      </a:r>
                    </a:p>
                  </a:txBody>
                  <a:tcPr marL="20916" marR="20916" marT="25099" marB="20916" anchor="ctr">
                    <a:lnL w="12700" cmpd="sng">
                      <a:noFill/>
                    </a:lnL>
                    <a:lnR w="12700" cmpd="sng">
                      <a:noFill/>
                    </a:lnR>
                    <a:lnT w="19050" cap="flat" cmpd="sng" algn="ctr">
                      <a:noFill/>
                      <a:prstDash val="solid"/>
                    </a:lnT>
                    <a:lnB w="38100" cmpd="sng">
                      <a:noFill/>
                    </a:lnB>
                    <a:solidFill>
                      <a:schemeClr val="accent1"/>
                    </a:solidFill>
                  </a:tcPr>
                </a:tc>
                <a:tc>
                  <a:txBody>
                    <a:bodyPr/>
                    <a:lstStyle/>
                    <a:p>
                      <a:pPr algn="l">
                        <a:buNone/>
                      </a:pPr>
                      <a:r>
                        <a:rPr lang="en-US" sz="900" b="0" cap="none" spc="60">
                          <a:solidFill>
                            <a:schemeClr val="bg1"/>
                          </a:solidFill>
                          <a:effectLst/>
                          <a:latin typeface="Arial"/>
                        </a:rPr>
                        <a:t>Paper‑Specific Gap (short)</a:t>
                      </a:r>
                    </a:p>
                  </a:txBody>
                  <a:tcPr marL="20916" marR="20916" marT="25099" marB="20916"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442699017"/>
                  </a:ext>
                </a:extLst>
              </a:tr>
              <a:tr h="1058454">
                <a:tc>
                  <a:txBody>
                    <a:bodyPr/>
                    <a:lstStyle/>
                    <a:p>
                      <a:pPr algn="l">
                        <a:buNone/>
                      </a:pPr>
                      <a:r>
                        <a:rPr lang="en-US" sz="900" cap="none" spc="0">
                          <a:solidFill>
                            <a:schemeClr val="tx1"/>
                          </a:solidFill>
                          <a:effectLst/>
                          <a:latin typeface="Arial"/>
                        </a:rPr>
                        <a:t>1</a:t>
                      </a:r>
                    </a:p>
                  </a:txBody>
                  <a:tcPr marL="20916" marR="20916" marT="25099" marB="20916" anchor="ctr">
                    <a:lnL w="12700" cmpd="sng">
                      <a:noFill/>
                      <a:prstDash val="solid"/>
                    </a:lnL>
                    <a:lnR w="12700" cmpd="sng">
                      <a:noFill/>
                      <a:prstDash val="solid"/>
                    </a:lnR>
                    <a:lnT w="38100" cmpd="sng">
                      <a:noFill/>
                    </a:lnT>
                    <a:lnB w="12700" cap="flat" cmpd="sng" algn="ctr">
                      <a:noFill/>
                      <a:prstDash val="solid"/>
                    </a:lnB>
                    <a:noFill/>
                  </a:tcPr>
                </a:tc>
                <a:tc>
                  <a:txBody>
                    <a:bodyPr/>
                    <a:lstStyle/>
                    <a:p>
                      <a:pPr algn="l">
                        <a:buNone/>
                      </a:pPr>
                      <a:r>
                        <a:rPr lang="en-US" sz="900" cap="none" spc="0">
                          <a:solidFill>
                            <a:schemeClr val="tx1"/>
                          </a:solidFill>
                          <a:effectLst/>
                          <a:latin typeface="Arial"/>
                        </a:rPr>
                        <a:t>Kuchibhatla et al. (2025), “Enhancing the validity of CAIDE dementia risk scores with resting heart rate and machine learning: An analysis from the National Alzheimer’s Coordinating Center across all races/ethnicities”</a:t>
                      </a:r>
                    </a:p>
                  </a:txBody>
                  <a:tcPr marL="20916" marR="20916" marT="25099" marB="20916" anchor="ctr">
                    <a:lnL w="12700" cmpd="sng">
                      <a:noFill/>
                      <a:prstDash val="solid"/>
                    </a:lnL>
                    <a:lnR w="12700" cmpd="sng">
                      <a:noFill/>
                      <a:prstDash val="solid"/>
                    </a:lnR>
                    <a:lnT w="38100" cmpd="sng">
                      <a:noFill/>
                    </a:lnT>
                    <a:lnB w="12700" cap="flat" cmpd="sng" algn="ctr">
                      <a:noFill/>
                      <a:prstDash val="solid"/>
                    </a:lnB>
                    <a:noFill/>
                  </a:tcPr>
                </a:tc>
                <a:tc>
                  <a:txBody>
                    <a:bodyPr/>
                    <a:lstStyle/>
                    <a:p>
                      <a:pPr algn="l">
                        <a:buNone/>
                      </a:pPr>
                      <a:r>
                        <a:rPr lang="en-US" sz="900" cap="none" spc="0">
                          <a:solidFill>
                            <a:schemeClr val="tx1"/>
                          </a:solidFill>
                          <a:effectLst/>
                          <a:latin typeface="Arial"/>
                        </a:rPr>
                        <a:t>NACC, multi‑ethnic cohort.</a:t>
                      </a:r>
                    </a:p>
                  </a:txBody>
                  <a:tcPr marL="20916" marR="20916" marT="25099" marB="20916" anchor="ctr">
                    <a:lnL w="12700" cmpd="sng">
                      <a:noFill/>
                      <a:prstDash val="solid"/>
                    </a:lnL>
                    <a:lnR w="12700" cmpd="sng">
                      <a:noFill/>
                      <a:prstDash val="solid"/>
                    </a:lnR>
                    <a:lnT w="38100" cmpd="sng">
                      <a:noFill/>
                    </a:lnT>
                    <a:lnB w="12700" cap="flat" cmpd="sng" algn="ctr">
                      <a:noFill/>
                      <a:prstDash val="solid"/>
                    </a:lnB>
                    <a:noFill/>
                  </a:tcPr>
                </a:tc>
                <a:tc>
                  <a:txBody>
                    <a:bodyPr/>
                    <a:lstStyle/>
                    <a:p>
                      <a:pPr algn="l">
                        <a:buNone/>
                      </a:pPr>
                      <a:r>
                        <a:rPr lang="en-US" sz="900" cap="none" spc="0">
                          <a:solidFill>
                            <a:schemeClr val="tx1"/>
                          </a:solidFill>
                          <a:effectLst/>
                          <a:latin typeface="Arial"/>
                        </a:rPr>
                        <a:t>Random forest CAIDE models with and without resting heart rate (CAIDE vs CAIDE‑RHR), evaluated by race/ethnicity using AUC, MCC and Brier score.</a:t>
                      </a:r>
                    </a:p>
                  </a:txBody>
                  <a:tcPr marL="20916" marR="20916" marT="25099" marB="20916" anchor="ctr">
                    <a:lnL w="12700" cmpd="sng">
                      <a:noFill/>
                      <a:prstDash val="solid"/>
                    </a:lnL>
                    <a:lnR w="12700" cmpd="sng">
                      <a:noFill/>
                      <a:prstDash val="solid"/>
                    </a:lnR>
                    <a:lnT w="38100" cmpd="sng">
                      <a:noFill/>
                    </a:lnT>
                    <a:lnB w="12700" cap="flat" cmpd="sng" algn="ctr">
                      <a:noFill/>
                      <a:prstDash val="solid"/>
                    </a:lnB>
                    <a:noFill/>
                  </a:tcPr>
                </a:tc>
                <a:tc>
                  <a:txBody>
                    <a:bodyPr/>
                    <a:lstStyle/>
                    <a:p>
                      <a:pPr algn="l">
                        <a:buNone/>
                      </a:pPr>
                      <a:r>
                        <a:rPr lang="en-US" sz="900" cap="none" spc="0">
                          <a:solidFill>
                            <a:schemeClr val="tx1"/>
                          </a:solidFill>
                          <a:effectLst/>
                          <a:latin typeface="Arial"/>
                        </a:rPr>
                        <a:t>Resting heart rate improves CAIDE dementia risk prediction in most groups (AUC ≈0.80–0.91), but not in American Indians.</a:t>
                      </a:r>
                    </a:p>
                  </a:txBody>
                  <a:tcPr marL="20916" marR="20916" marT="25099" marB="20916" anchor="ctr">
                    <a:lnL w="12700" cmpd="sng">
                      <a:noFill/>
                      <a:prstDash val="solid"/>
                    </a:lnL>
                    <a:lnR w="12700" cmpd="sng">
                      <a:noFill/>
                      <a:prstDash val="solid"/>
                    </a:lnR>
                    <a:lnT w="38100" cmpd="sng">
                      <a:noFill/>
                    </a:lnT>
                    <a:lnB w="12700" cap="flat" cmpd="sng" algn="ctr">
                      <a:noFill/>
                      <a:prstDash val="solid"/>
                    </a:lnB>
                    <a:noFill/>
                  </a:tcPr>
                </a:tc>
                <a:tc>
                  <a:txBody>
                    <a:bodyPr/>
                    <a:lstStyle/>
                    <a:p>
                      <a:pPr algn="l">
                        <a:buNone/>
                      </a:pPr>
                      <a:r>
                        <a:rPr lang="en-US" sz="900" cap="none" spc="0">
                          <a:solidFill>
                            <a:schemeClr val="tx1"/>
                          </a:solidFill>
                          <a:effectLst/>
                          <a:latin typeface="Arial"/>
                        </a:rPr>
                        <a:t>Volunteer NACC sample with limited external validation and unequal ethnic performance; not benchmarked against newer multimodal ML dementia risk scores.</a:t>
                      </a:r>
                    </a:p>
                  </a:txBody>
                  <a:tcPr marL="20916" marR="20916" marT="25099" marB="20916"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318773273"/>
                  </a:ext>
                </a:extLst>
              </a:tr>
              <a:tr h="915419">
                <a:tc>
                  <a:txBody>
                    <a:bodyPr/>
                    <a:lstStyle/>
                    <a:p>
                      <a:pPr algn="l">
                        <a:buNone/>
                      </a:pPr>
                      <a:r>
                        <a:rPr lang="en-US" sz="900" cap="none" spc="0">
                          <a:solidFill>
                            <a:schemeClr val="tx1"/>
                          </a:solidFill>
                          <a:effectLst/>
                          <a:latin typeface="Arial"/>
                        </a:rPr>
                        <a:t>2</a:t>
                      </a:r>
                    </a:p>
                  </a:txBody>
                  <a:tcPr marL="20916" marR="20916" marT="25099" marB="2091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a:buNone/>
                      </a:pPr>
                      <a:r>
                        <a:rPr lang="en-US" sz="900" cap="none" spc="0">
                          <a:solidFill>
                            <a:schemeClr val="tx1"/>
                          </a:solidFill>
                          <a:effectLst/>
                          <a:latin typeface="Arial"/>
                        </a:rPr>
                        <a:t>Jia et al. (2024), “Cardiovascular disease risk models and dementia or cognitive decline: a systematic review”</a:t>
                      </a:r>
                    </a:p>
                  </a:txBody>
                  <a:tcPr marL="20916" marR="20916" marT="25099" marB="2091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a:buNone/>
                      </a:pPr>
                      <a:r>
                        <a:rPr lang="en-US" sz="900" cap="none" spc="0">
                          <a:solidFill>
                            <a:schemeClr val="tx1"/>
                          </a:solidFill>
                          <a:effectLst/>
                          <a:latin typeface="Arial"/>
                        </a:rPr>
                        <a:t>22 cohorts, 15 CVD scores.</a:t>
                      </a:r>
                    </a:p>
                  </a:txBody>
                  <a:tcPr marL="20916" marR="20916" marT="25099" marB="2091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a:buNone/>
                      </a:pPr>
                      <a:r>
                        <a:rPr lang="en-US" sz="900" cap="none" spc="0">
                          <a:solidFill>
                            <a:schemeClr val="tx1"/>
                          </a:solidFill>
                          <a:effectLst/>
                          <a:latin typeface="Arial"/>
                        </a:rPr>
                        <a:t>PRISMA systematic review of studies using cardiovascular risk scores to predict later dementia/cognitive decline; quality rated via Newcastle–Ottawa and AHRQ.</a:t>
                      </a:r>
                    </a:p>
                  </a:txBody>
                  <a:tcPr marL="20916" marR="20916" marT="25099" marB="2091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a:buNone/>
                      </a:pPr>
                      <a:r>
                        <a:rPr lang="en-US" sz="900" cap="none" spc="0">
                          <a:solidFill>
                            <a:schemeClr val="tx1"/>
                          </a:solidFill>
                          <a:effectLst/>
                          <a:latin typeface="Arial"/>
                        </a:rPr>
                        <a:t>Most CVD scores show positive associations with dementia/cognitive decline; several report AUCs in the mid‑0.7 range.</a:t>
                      </a:r>
                    </a:p>
                  </a:txBody>
                  <a:tcPr marL="20916" marR="20916" marT="25099" marB="2091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a:buNone/>
                      </a:pPr>
                      <a:r>
                        <a:rPr lang="en-US" sz="900" cap="none" spc="0" dirty="0">
                          <a:solidFill>
                            <a:schemeClr val="tx1"/>
                          </a:solidFill>
                          <a:effectLst/>
                          <a:latin typeface="Arial"/>
                        </a:rPr>
                        <a:t>Strong heterogeneity and inconsistent metrics prevent clear “best model” identification; few standardized, recalibrated or ML‑extended dementia‑specific </a:t>
                      </a:r>
                      <a:r>
                        <a:rPr lang="en-US" sz="900" cap="none" spc="0">
                          <a:solidFill>
                            <a:schemeClr val="tx1"/>
                          </a:solidFill>
                          <a:effectLst/>
                          <a:latin typeface="Arial"/>
                        </a:rPr>
                        <a:t>scores.</a:t>
                      </a:r>
                    </a:p>
                  </a:txBody>
                  <a:tcPr marL="20916" marR="20916" marT="25099" marB="2091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766343333"/>
                  </a:ext>
                </a:extLst>
              </a:tr>
              <a:tr h="915419">
                <a:tc>
                  <a:txBody>
                    <a:bodyPr/>
                    <a:lstStyle/>
                    <a:p>
                      <a:pPr algn="l">
                        <a:buNone/>
                      </a:pPr>
                      <a:r>
                        <a:rPr lang="en-US" sz="900" cap="none" spc="0">
                          <a:solidFill>
                            <a:schemeClr val="tx1"/>
                          </a:solidFill>
                          <a:effectLst/>
                          <a:latin typeface="Arial"/>
                        </a:rPr>
                        <a:t>3</a:t>
                      </a:r>
                    </a:p>
                  </a:txBody>
                  <a:tcPr marL="20916" marR="20916" marT="25099" marB="2091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a:buNone/>
                      </a:pPr>
                      <a:r>
                        <a:rPr lang="en-US" sz="900" cap="none" spc="0" dirty="0">
                          <a:solidFill>
                            <a:schemeClr val="tx1"/>
                          </a:solidFill>
                          <a:effectLst/>
                          <a:latin typeface="Arial"/>
                        </a:rPr>
                        <a:t>Song et al. (2020), “Associations Between Cardiovascular Risk, Structural Brain Changes, and Cognitive </a:t>
                      </a:r>
                      <a:r>
                        <a:rPr lang="en-US" sz="900" cap="none" spc="0">
                          <a:solidFill>
                            <a:schemeClr val="tx1"/>
                          </a:solidFill>
                          <a:effectLst/>
                          <a:latin typeface="Arial"/>
                        </a:rPr>
                        <a:t>Decline”</a:t>
                      </a:r>
                    </a:p>
                  </a:txBody>
                  <a:tcPr marL="20916" marR="20916" marT="25099" marB="2091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a:buNone/>
                      </a:pPr>
                      <a:r>
                        <a:rPr lang="en-US" sz="900" cap="none" spc="0">
                          <a:solidFill>
                            <a:schemeClr val="tx1"/>
                          </a:solidFill>
                          <a:effectLst/>
                          <a:latin typeface="Arial"/>
                        </a:rPr>
                        <a:t>Rush Memory and Aging Project.</a:t>
                      </a:r>
                    </a:p>
                  </a:txBody>
                  <a:tcPr marL="20916" marR="20916" marT="25099" marB="2091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a:buNone/>
                      </a:pPr>
                      <a:r>
                        <a:rPr lang="en-US" sz="900" cap="none" spc="0">
                          <a:solidFill>
                            <a:schemeClr val="tx1"/>
                          </a:solidFill>
                          <a:effectLst/>
                          <a:latin typeface="Arial"/>
                        </a:rPr>
                        <a:t>Baseline Framingham General Cardiovascular Risk Score; mixed‑effects models for longitudinal cognition; regression linking FGCRS to MRI‑based brain volumes and white matter hyperintensities.</a:t>
                      </a:r>
                    </a:p>
                  </a:txBody>
                  <a:tcPr marL="20916" marR="20916" marT="25099" marB="2091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a:buNone/>
                      </a:pPr>
                      <a:r>
                        <a:rPr lang="en-US" sz="900" cap="none" spc="0">
                          <a:solidFill>
                            <a:schemeClr val="tx1"/>
                          </a:solidFill>
                          <a:effectLst/>
                          <a:latin typeface="Arial"/>
                        </a:rPr>
                        <a:t>Higher CV risk predicts faster decline in multiple cognitive domains and more neurodegeneration (smaller volumes, more WMH).</a:t>
                      </a:r>
                    </a:p>
                  </a:txBody>
                  <a:tcPr marL="20916" marR="20916" marT="25099" marB="2091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a:buNone/>
                      </a:pPr>
                      <a:r>
                        <a:rPr lang="en-US" sz="900" cap="none" spc="0">
                          <a:solidFill>
                            <a:schemeClr val="tx1"/>
                          </a:solidFill>
                          <a:effectLst/>
                          <a:latin typeface="Arial"/>
                        </a:rPr>
                        <a:t>Single traditional score in an older U.S. cohort with MRI only in a subset; no predictive ML or multimodal dementia risk framework.</a:t>
                      </a:r>
                    </a:p>
                  </a:txBody>
                  <a:tcPr marL="20916" marR="20916" marT="25099" marB="20916"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613200590"/>
                  </a:ext>
                </a:extLst>
              </a:tr>
              <a:tr h="915419">
                <a:tc>
                  <a:txBody>
                    <a:bodyPr/>
                    <a:lstStyle/>
                    <a:p>
                      <a:pPr algn="l">
                        <a:buNone/>
                      </a:pPr>
                      <a:r>
                        <a:rPr lang="en-US" sz="900" cap="none" spc="0">
                          <a:solidFill>
                            <a:schemeClr val="tx1"/>
                          </a:solidFill>
                          <a:effectLst/>
                          <a:latin typeface="Arial"/>
                        </a:rPr>
                        <a:t>5</a:t>
                      </a:r>
                    </a:p>
                  </a:txBody>
                  <a:tcPr marL="20916" marR="20916" marT="25099" marB="20916" anchor="ctr">
                    <a:lnL w="12700" cmpd="sng">
                      <a:noFill/>
                      <a:prstDash val="solid"/>
                    </a:lnL>
                    <a:lnR w="12700" cmpd="sng">
                      <a:noFill/>
                      <a:prstDash val="solid"/>
                    </a:lnR>
                    <a:lnT w="12700" cap="flat" cmpd="sng" algn="ctr">
                      <a:noFill/>
                      <a:prstDash val="solid"/>
                    </a:lnT>
                    <a:lnB w="12700" cap="flat" cmpd="sng" algn="ctr">
                      <a:noFill/>
                      <a:prstDash val="solid"/>
                    </a:lnB>
                    <a:noFill/>
                  </a:tcPr>
                </a:tc>
                <a:tc>
                  <a:txBody>
                    <a:bodyPr/>
                    <a:lstStyle/>
                    <a:p>
                      <a:pPr algn="l">
                        <a:buNone/>
                      </a:pPr>
                      <a:r>
                        <a:rPr lang="en-US" sz="900" cap="none" spc="0" dirty="0">
                          <a:solidFill>
                            <a:schemeClr val="tx1"/>
                          </a:solidFill>
                          <a:effectLst/>
                          <a:latin typeface="Arial"/>
                        </a:rPr>
                        <a:t>Ding et al. / </a:t>
                      </a:r>
                      <a:r>
                        <a:rPr lang="en-US" sz="900" cap="none" spc="0" dirty="0" err="1">
                          <a:solidFill>
                            <a:schemeClr val="tx1"/>
                          </a:solidFill>
                          <a:effectLst/>
                          <a:latin typeface="Arial"/>
                        </a:rPr>
                        <a:t>GeroScience</a:t>
                      </a:r>
                      <a:r>
                        <a:rPr lang="en-US" sz="900" cap="none" spc="0" dirty="0">
                          <a:solidFill>
                            <a:schemeClr val="tx1"/>
                          </a:solidFill>
                          <a:effectLst/>
                          <a:latin typeface="Arial"/>
                        </a:rPr>
                        <a:t> (2025), “Integrative machine learning approach to risk prediction for dementia and Alzheimer’s disease”</a:t>
                      </a:r>
                    </a:p>
                  </a:txBody>
                  <a:tcPr marL="20916" marR="20916" marT="25099" marB="20916" anchor="ctr">
                    <a:lnL w="12700" cmpd="sng">
                      <a:noFill/>
                      <a:prstDash val="solid"/>
                    </a:lnL>
                    <a:lnR w="12700" cmpd="sng">
                      <a:noFill/>
                      <a:prstDash val="solid"/>
                    </a:lnR>
                    <a:lnT w="12700" cap="flat" cmpd="sng" algn="ctr">
                      <a:noFill/>
                      <a:prstDash val="solid"/>
                    </a:lnT>
                    <a:lnB w="12700" cap="flat" cmpd="sng" algn="ctr">
                      <a:noFill/>
                      <a:prstDash val="solid"/>
                    </a:lnB>
                    <a:noFill/>
                  </a:tcPr>
                </a:tc>
                <a:tc>
                  <a:txBody>
                    <a:bodyPr/>
                    <a:lstStyle/>
                    <a:p>
                      <a:pPr algn="l">
                        <a:buNone/>
                      </a:pPr>
                      <a:r>
                        <a:rPr lang="en-US" sz="900" cap="none" spc="0">
                          <a:solidFill>
                            <a:schemeClr val="tx1"/>
                          </a:solidFill>
                          <a:effectLst/>
                          <a:latin typeface="Arial"/>
                        </a:rPr>
                        <a:t>UK Biobank (AD cases + controls).</a:t>
                      </a:r>
                    </a:p>
                  </a:txBody>
                  <a:tcPr marL="20916" marR="20916" marT="25099" marB="20916" anchor="ctr">
                    <a:lnL w="12700" cmpd="sng">
                      <a:noFill/>
                      <a:prstDash val="solid"/>
                    </a:lnL>
                    <a:lnR w="12700" cmpd="sng">
                      <a:noFill/>
                      <a:prstDash val="solid"/>
                    </a:lnR>
                    <a:lnT w="12700" cap="flat" cmpd="sng" algn="ctr">
                      <a:noFill/>
                      <a:prstDash val="solid"/>
                    </a:lnT>
                    <a:lnB w="12700" cap="flat" cmpd="sng" algn="ctr">
                      <a:noFill/>
                      <a:prstDash val="solid"/>
                    </a:lnB>
                    <a:noFill/>
                  </a:tcPr>
                </a:tc>
                <a:tc>
                  <a:txBody>
                    <a:bodyPr/>
                    <a:lstStyle/>
                    <a:p>
                      <a:pPr algn="l">
                        <a:buNone/>
                      </a:pPr>
                      <a:r>
                        <a:rPr lang="en-US" sz="900" cap="none" spc="0" dirty="0">
                          <a:solidFill>
                            <a:schemeClr val="tx1"/>
                          </a:solidFill>
                          <a:effectLst/>
                          <a:latin typeface="Arial"/>
                        </a:rPr>
                        <a:t>Comparison of multiple ML algorithms on ICD‑10 diagnoses, lifestyle factors and genetics (including APOE), with sex‑specific and vascular vs non‑vascular dementia models; </a:t>
                      </a:r>
                      <a:r>
                        <a:rPr lang="en-US" sz="900" cap="none" spc="0" dirty="0" err="1">
                          <a:solidFill>
                            <a:schemeClr val="tx1"/>
                          </a:solidFill>
                          <a:effectLst/>
                          <a:latin typeface="Arial"/>
                        </a:rPr>
                        <a:t>CatBoost</a:t>
                      </a:r>
                      <a:r>
                        <a:rPr lang="en-US" sz="900" cap="none" spc="0" dirty="0">
                          <a:solidFill>
                            <a:schemeClr val="tx1"/>
                          </a:solidFill>
                          <a:effectLst/>
                          <a:latin typeface="Arial"/>
                        </a:rPr>
                        <a:t> selected as best.</a:t>
                      </a:r>
                    </a:p>
                  </a:txBody>
                  <a:tcPr marL="20916" marR="20916" marT="25099" marB="20916" anchor="ctr">
                    <a:lnL w="12700" cmpd="sng">
                      <a:noFill/>
                      <a:prstDash val="solid"/>
                    </a:lnL>
                    <a:lnR w="12700" cmpd="sng">
                      <a:noFill/>
                      <a:prstDash val="solid"/>
                    </a:lnR>
                    <a:lnT w="12700" cap="flat" cmpd="sng" algn="ctr">
                      <a:noFill/>
                      <a:prstDash val="solid"/>
                    </a:lnT>
                    <a:lnB w="12700" cap="flat" cmpd="sng" algn="ctr">
                      <a:noFill/>
                      <a:prstDash val="solid"/>
                    </a:lnB>
                    <a:noFill/>
                  </a:tcPr>
                </a:tc>
                <a:tc>
                  <a:txBody>
                    <a:bodyPr/>
                    <a:lstStyle/>
                    <a:p>
                      <a:pPr algn="l">
                        <a:buNone/>
                      </a:pPr>
                      <a:r>
                        <a:rPr lang="en-US" sz="900" cap="none" spc="0" dirty="0" err="1">
                          <a:solidFill>
                            <a:schemeClr val="tx1"/>
                          </a:solidFill>
                          <a:effectLst/>
                          <a:latin typeface="Arial"/>
                        </a:rPr>
                        <a:t>CatBoost</a:t>
                      </a:r>
                      <a:r>
                        <a:rPr lang="en-US" sz="900" cap="none" spc="0" dirty="0">
                          <a:solidFill>
                            <a:schemeClr val="tx1"/>
                          </a:solidFill>
                          <a:effectLst/>
                          <a:latin typeface="Arial"/>
                        </a:rPr>
                        <a:t> reaches ROC‑AUC ≈0.77 for AD risk and highlights comorbidities, education, activity, diet and CV health as key predictors.</a:t>
                      </a:r>
                    </a:p>
                  </a:txBody>
                  <a:tcPr marL="20916" marR="20916" marT="25099" marB="20916" anchor="ctr">
                    <a:lnL w="12700" cmpd="sng">
                      <a:noFill/>
                      <a:prstDash val="solid"/>
                    </a:lnL>
                    <a:lnR w="12700" cmpd="sng">
                      <a:noFill/>
                      <a:prstDash val="solid"/>
                    </a:lnR>
                    <a:lnT w="12700" cap="flat" cmpd="sng" algn="ctr">
                      <a:noFill/>
                      <a:prstDash val="solid"/>
                    </a:lnT>
                    <a:lnB w="12700" cap="flat" cmpd="sng" algn="ctr">
                      <a:noFill/>
                      <a:prstDash val="solid"/>
                    </a:lnB>
                    <a:noFill/>
                  </a:tcPr>
                </a:tc>
                <a:tc>
                  <a:txBody>
                    <a:bodyPr/>
                    <a:lstStyle/>
                    <a:p>
                      <a:pPr algn="l">
                        <a:buNone/>
                      </a:pPr>
                      <a:r>
                        <a:rPr lang="en-US" sz="900" cap="none" spc="0" dirty="0">
                          <a:solidFill>
                            <a:schemeClr val="tx1"/>
                          </a:solidFill>
                          <a:effectLst/>
                          <a:latin typeface="Arial"/>
                        </a:rPr>
                        <a:t>Moderate AUC and reliance on UK Biobank volunteers without imaging/cognitive tests limit external validity </a:t>
                      </a:r>
                      <a:r>
                        <a:rPr lang="en-US" sz="900" cap="none" spc="0">
                          <a:solidFill>
                            <a:schemeClr val="tx1"/>
                          </a:solidFill>
                          <a:effectLst/>
                          <a:latin typeface="Arial"/>
                        </a:rPr>
                        <a:t>and multimodal richness.</a:t>
                      </a:r>
                    </a:p>
                  </a:txBody>
                  <a:tcPr marL="20916" marR="20916" marT="25099" marB="20916" anchor="ctr">
                    <a:lnL w="12700" cmpd="sng">
                      <a:noFill/>
                      <a:prstDash val="solid"/>
                    </a:lnL>
                    <a:lnR w="12700" cmpd="sng">
                      <a:noFill/>
                      <a:prstDash val="solid"/>
                    </a:lnR>
                    <a:lnT w="12700" cap="flat" cmpd="sng" algn="ctr">
                      <a:noFill/>
                      <a:prstDash val="solid"/>
                    </a:lnT>
                    <a:lnB w="12700" cap="flat" cmpd="sng" algn="ctr">
                      <a:noFill/>
                      <a:prstDash val="solid"/>
                    </a:lnB>
                    <a:noFill/>
                  </a:tcPr>
                </a:tc>
                <a:extLst>
                  <a:ext uri="{0D108BD9-81ED-4DB2-BD59-A6C34878D82A}">
                    <a16:rowId xmlns:a16="http://schemas.microsoft.com/office/drawing/2014/main" val="2086908559"/>
                  </a:ext>
                </a:extLst>
              </a:tr>
            </a:tbl>
          </a:graphicData>
        </a:graphic>
      </p:graphicFrame>
      <p:sp>
        <p:nvSpPr>
          <p:cNvPr id="10" name="TextBox 9">
            <a:extLst>
              <a:ext uri="{FF2B5EF4-FFF2-40B4-BE49-F238E27FC236}">
                <a16:creationId xmlns:a16="http://schemas.microsoft.com/office/drawing/2014/main" id="{50DEA530-8095-6432-3526-24BD70FBAA38}"/>
              </a:ext>
            </a:extLst>
          </p:cNvPr>
          <p:cNvSpPr txBox="1"/>
          <p:nvPr/>
        </p:nvSpPr>
        <p:spPr>
          <a:xfrm>
            <a:off x="1457960" y="482600"/>
            <a:ext cx="62357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a:ea typeface="Calibri"/>
                <a:cs typeface="Calibri"/>
              </a:rPr>
              <a:t>Literature Review</a:t>
            </a:r>
          </a:p>
        </p:txBody>
      </p:sp>
    </p:spTree>
    <p:extLst>
      <p:ext uri="{BB962C8B-B14F-4D97-AF65-F5344CB8AC3E}">
        <p14:creationId xmlns:p14="http://schemas.microsoft.com/office/powerpoint/2010/main" val="2767098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54729498-E70E-EB9A-4362-3A7D8D5FFDB6}"/>
              </a:ext>
            </a:extLst>
          </p:cNvPr>
          <p:cNvGraphicFramePr>
            <a:graphicFrameLocks noGrp="1"/>
          </p:cNvGraphicFramePr>
          <p:nvPr>
            <p:extLst>
              <p:ext uri="{D42A27DB-BD31-4B8C-83A1-F6EECF244321}">
                <p14:modId xmlns:p14="http://schemas.microsoft.com/office/powerpoint/2010/main" val="846715456"/>
              </p:ext>
            </p:extLst>
          </p:nvPr>
        </p:nvGraphicFramePr>
        <p:xfrm>
          <a:off x="472840" y="1080899"/>
          <a:ext cx="8198320" cy="3861942"/>
        </p:xfrm>
        <a:graphic>
          <a:graphicData uri="http://schemas.openxmlformats.org/drawingml/2006/table">
            <a:tbl>
              <a:tblPr bandRow="1">
                <a:tableStyleId>{5C22544A-7EE6-4342-B048-85BDC9FD1C3A}</a:tableStyleId>
              </a:tblPr>
              <a:tblGrid>
                <a:gridCol w="444494">
                  <a:extLst>
                    <a:ext uri="{9D8B030D-6E8A-4147-A177-3AD203B41FA5}">
                      <a16:colId xmlns:a16="http://schemas.microsoft.com/office/drawing/2014/main" val="3612837657"/>
                    </a:ext>
                  </a:extLst>
                </a:gridCol>
                <a:gridCol w="1557023">
                  <a:extLst>
                    <a:ext uri="{9D8B030D-6E8A-4147-A177-3AD203B41FA5}">
                      <a16:colId xmlns:a16="http://schemas.microsoft.com/office/drawing/2014/main" val="1296549358"/>
                    </a:ext>
                  </a:extLst>
                </a:gridCol>
                <a:gridCol w="1489615">
                  <a:extLst>
                    <a:ext uri="{9D8B030D-6E8A-4147-A177-3AD203B41FA5}">
                      <a16:colId xmlns:a16="http://schemas.microsoft.com/office/drawing/2014/main" val="527064910"/>
                    </a:ext>
                  </a:extLst>
                </a:gridCol>
                <a:gridCol w="1567729">
                  <a:extLst>
                    <a:ext uri="{9D8B030D-6E8A-4147-A177-3AD203B41FA5}">
                      <a16:colId xmlns:a16="http://schemas.microsoft.com/office/drawing/2014/main" val="2690710712"/>
                    </a:ext>
                  </a:extLst>
                </a:gridCol>
                <a:gridCol w="1575740">
                  <a:extLst>
                    <a:ext uri="{9D8B030D-6E8A-4147-A177-3AD203B41FA5}">
                      <a16:colId xmlns:a16="http://schemas.microsoft.com/office/drawing/2014/main" val="1376484910"/>
                    </a:ext>
                  </a:extLst>
                </a:gridCol>
                <a:gridCol w="1563719">
                  <a:extLst>
                    <a:ext uri="{9D8B030D-6E8A-4147-A177-3AD203B41FA5}">
                      <a16:colId xmlns:a16="http://schemas.microsoft.com/office/drawing/2014/main" val="2058902295"/>
                    </a:ext>
                  </a:extLst>
                </a:gridCol>
              </a:tblGrid>
              <a:tr h="622297">
                <a:tc>
                  <a:txBody>
                    <a:bodyPr/>
                    <a:lstStyle/>
                    <a:p>
                      <a:pPr marL="0" marR="0" indent="0" algn="l" rtl="0" fontAlgn="base">
                        <a:buNone/>
                      </a:pPr>
                      <a:r>
                        <a:rPr lang="en-US" sz="900" b="0" i="0" spc="0">
                          <a:solidFill>
                            <a:srgbClr val="000000"/>
                          </a:solidFill>
                          <a:effectLst/>
                          <a:latin typeface="Arial"/>
                        </a:rPr>
                        <a:t>6</a:t>
                      </a:r>
                      <a:endParaRPr lang="en-US" sz="900" b="0" i="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marL="0" marR="0" indent="0" algn="l" rtl="0" fontAlgn="base">
                        <a:buNone/>
                      </a:pPr>
                      <a:r>
                        <a:rPr lang="en-US" sz="900" b="0" i="0" spc="0">
                          <a:solidFill>
                            <a:srgbClr val="000000"/>
                          </a:solidFill>
                          <a:effectLst/>
                          <a:latin typeface="Arial"/>
                        </a:rPr>
                        <a:t>Aschwanden et al. (2020), “Predicting Cognitive Impairment and Dementia: A Machine Learning Approach”</a:t>
                      </a:r>
                      <a:endParaRPr lang="en-US" sz="900" b="0" i="0" u="sng" strike="noStrike" spc="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marL="0" marR="0" indent="0" algn="l" rtl="0" fontAlgn="base">
                        <a:buNone/>
                      </a:pPr>
                      <a:r>
                        <a:rPr lang="en-US" sz="900" b="0" i="0" spc="0" dirty="0">
                          <a:solidFill>
                            <a:srgbClr val="000000"/>
                          </a:solidFill>
                          <a:effectLst/>
                          <a:latin typeface="Arial"/>
                        </a:rPr>
                        <a:t>Health and Retirement Study </a:t>
                      </a:r>
                      <a:r>
                        <a:rPr lang="en-US" sz="900" b="0" i="0" spc="0">
                          <a:solidFill>
                            <a:srgbClr val="000000"/>
                          </a:solidFill>
                          <a:effectLst/>
                          <a:latin typeface="Arial"/>
                        </a:rPr>
                        <a:t>(HRS).</a:t>
                      </a:r>
                      <a:endParaRPr lang="en-US" sz="900" b="0" i="1" u="sng" strike="noStrike" spc="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marL="0" marR="0" indent="0" algn="l" rtl="0" fontAlgn="base">
                        <a:buNone/>
                      </a:pPr>
                      <a:r>
                        <a:rPr lang="en-US" sz="900" b="0" i="0" spc="0">
                          <a:solidFill>
                            <a:srgbClr val="000000"/>
                          </a:solidFill>
                          <a:effectLst/>
                          <a:latin typeface="Arial"/>
                        </a:rPr>
                        <a:t>Split‑sample pipeline: random‑forest survival importance over 52 predictors, followed by Cox models for hazard ratios across demographics, psychological traits, health, lifestyle, CV factors and polygenic scores</a:t>
                      </a:r>
                      <a:endParaRPr lang="en-US" sz="900" b="0" i="0" u="sng" strike="noStrike" spc="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marL="0" marR="0" indent="0" algn="l" rtl="0" fontAlgn="base">
                        <a:buNone/>
                      </a:pPr>
                      <a:r>
                        <a:rPr lang="en-US" sz="900" b="0" i="0" spc="0">
                          <a:solidFill>
                            <a:srgbClr val="000000"/>
                          </a:solidFill>
                          <a:effectLst/>
                          <a:latin typeface="Arial"/>
                        </a:rPr>
                        <a:t>Emotional distress, subjective health and sociodemographic factors dominate risk; CV factors and polygenic scores contribute less when considered jointly.</a:t>
                      </a:r>
                      <a:endParaRPr lang="en-US" sz="900" b="0" i="0" u="sng" strike="noStrike" spc="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marL="0" marR="0" indent="0" algn="l" rtl="0" fontAlgn="base">
                        <a:buNone/>
                      </a:pPr>
                      <a:r>
                        <a:rPr lang="en-US" sz="900" b="0" i="0" spc="0">
                          <a:solidFill>
                            <a:srgbClr val="000000"/>
                          </a:solidFill>
                          <a:effectLst/>
                          <a:latin typeface="Arial"/>
                        </a:rPr>
                        <a:t>Provides predictor rankings instead of a deployable dementia risk score; lacks neuroimaging, multimodal ML and external validation.pubmed.ncbi.nlm.nih+1</a:t>
                      </a:r>
                      <a:endParaRPr lang="en-US" sz="900" b="0" i="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71424556"/>
                  </a:ext>
                </a:extLst>
              </a:tr>
              <a:tr h="533400">
                <a:tc>
                  <a:txBody>
                    <a:bodyPr/>
                    <a:lstStyle/>
                    <a:p>
                      <a:pPr marL="0" marR="0" indent="0" algn="l" rtl="0" fontAlgn="base">
                        <a:buNone/>
                      </a:pPr>
                      <a:r>
                        <a:rPr lang="en-US" sz="900" b="0" i="0" spc="0">
                          <a:solidFill>
                            <a:srgbClr val="000000"/>
                          </a:solidFill>
                          <a:effectLst/>
                          <a:latin typeface="Arial"/>
                        </a:rPr>
                        <a:t>7</a:t>
                      </a:r>
                      <a:endParaRPr lang="en-US" sz="900" b="0" i="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rtl="0" fontAlgn="base">
                        <a:buNone/>
                      </a:pPr>
                      <a:r>
                        <a:rPr lang="en-US" sz="900" b="0" i="0" spc="0" dirty="0">
                          <a:solidFill>
                            <a:srgbClr val="000000"/>
                          </a:solidFill>
                          <a:effectLst/>
                          <a:latin typeface="Arial"/>
                        </a:rPr>
                        <a:t>Yi et al. (2023), “</a:t>
                      </a:r>
                      <a:r>
                        <a:rPr lang="en-US" sz="900" b="0" i="0" spc="0" err="1">
                          <a:solidFill>
                            <a:srgbClr val="000000"/>
                          </a:solidFill>
                          <a:effectLst/>
                          <a:latin typeface="Arial"/>
                        </a:rPr>
                        <a:t>XGBoost</a:t>
                      </a:r>
                      <a:r>
                        <a:rPr lang="en-US" sz="900" b="0" i="0" spc="0" dirty="0">
                          <a:solidFill>
                            <a:srgbClr val="000000"/>
                          </a:solidFill>
                          <a:effectLst/>
                          <a:latin typeface="Arial"/>
                        </a:rPr>
                        <a:t>‑SHAP‑based interpretable diagnostic framework for Alzheimer’s </a:t>
                      </a:r>
                      <a:r>
                        <a:rPr lang="en-US" sz="900" b="0" i="0" spc="0">
                          <a:solidFill>
                            <a:srgbClr val="000000"/>
                          </a:solidFill>
                          <a:effectLst/>
                          <a:latin typeface="Arial"/>
                        </a:rPr>
                        <a:t>disease”</a:t>
                      </a:r>
                      <a:endParaRPr lang="en-US" sz="900" b="0" i="0" u="sng" strike="noStrike" spc="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rtl="0" fontAlgn="base">
                        <a:buNone/>
                      </a:pPr>
                      <a:r>
                        <a:rPr lang="en-US" sz="900" b="0" i="0" spc="0" dirty="0">
                          <a:solidFill>
                            <a:srgbClr val="000000"/>
                          </a:solidFill>
                          <a:effectLst/>
                          <a:latin typeface="Arial"/>
                        </a:rPr>
                        <a:t>ADNI and </a:t>
                      </a:r>
                      <a:r>
                        <a:rPr lang="en-US" sz="900" b="0" i="0" spc="0">
                          <a:solidFill>
                            <a:srgbClr val="000000"/>
                          </a:solidFill>
                          <a:effectLst/>
                          <a:latin typeface="Arial"/>
                        </a:rPr>
                        <a:t>NACC.</a:t>
                      </a:r>
                      <a:endParaRPr lang="en-US" sz="900" b="0" i="0" u="sng" strike="noStrike" spc="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rtl="0" fontAlgn="base">
                        <a:buNone/>
                      </a:pPr>
                      <a:r>
                        <a:rPr lang="en-US" sz="900" b="0" i="0" spc="0" dirty="0">
                          <a:solidFill>
                            <a:srgbClr val="000000"/>
                          </a:solidFill>
                          <a:effectLst/>
                          <a:latin typeface="Arial"/>
                        </a:rPr>
                        <a:t>Class‑weighted </a:t>
                      </a:r>
                      <a:r>
                        <a:rPr lang="en-US" sz="900" b="0" i="0" spc="0" dirty="0" err="1">
                          <a:solidFill>
                            <a:srgbClr val="000000"/>
                          </a:solidFill>
                          <a:effectLst/>
                          <a:latin typeface="Arial"/>
                        </a:rPr>
                        <a:t>XGBoost</a:t>
                      </a:r>
                      <a:r>
                        <a:rPr lang="en-US" sz="900" b="0" i="0" spc="0" dirty="0">
                          <a:solidFill>
                            <a:srgbClr val="000000"/>
                          </a:solidFill>
                          <a:effectLst/>
                          <a:latin typeface="Arial"/>
                        </a:rPr>
                        <a:t> for NC/MCI/AD classification, combined with SHAP explanations; benchmarked against RF, Bagging, AdaBoost, Naïve Bayes and unweighted </a:t>
                      </a:r>
                      <a:r>
                        <a:rPr lang="en-US" sz="900" b="0" i="0" spc="0" dirty="0" err="1">
                          <a:solidFill>
                            <a:srgbClr val="000000"/>
                          </a:solidFill>
                          <a:effectLst/>
                          <a:latin typeface="Arial"/>
                        </a:rPr>
                        <a:t>XGBoost</a:t>
                      </a:r>
                      <a:r>
                        <a:rPr lang="en-US" sz="900" b="0" i="0" spc="0" dirty="0">
                          <a:solidFill>
                            <a:srgbClr val="000000"/>
                          </a:solidFill>
                          <a:effectLst/>
                          <a:latin typeface="Arial"/>
                        </a:rPr>
                        <a:t>.</a:t>
                      </a:r>
                      <a:endParaRPr lang="en-US" sz="900" b="0" i="0" u="sng" strike="noStrike" spc="0" dirty="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rtl="0" fontAlgn="base">
                        <a:buNone/>
                      </a:pPr>
                      <a:r>
                        <a:rPr lang="en-US" sz="900" b="0" i="0" spc="0">
                          <a:solidFill>
                            <a:srgbClr val="000000"/>
                          </a:solidFill>
                          <a:effectLst/>
                          <a:latin typeface="Arial"/>
                        </a:rPr>
                        <a:t>High diagnostic performance (AUC ≈0.91 on ADNI, ≈0.88 on NACC) with interpretable SHAP‑based feature importance.</a:t>
                      </a:r>
                      <a:endParaRPr lang="en-US" sz="900" b="0" i="0" u="sng" strike="noStrike" spc="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rtl="0" fontAlgn="base">
                        <a:buNone/>
                      </a:pPr>
                      <a:r>
                        <a:rPr lang="en-US" sz="900" b="0" i="0" spc="0">
                          <a:solidFill>
                            <a:srgbClr val="000000"/>
                          </a:solidFill>
                          <a:effectLst/>
                          <a:latin typeface="Arial"/>
                        </a:rPr>
                        <a:t>Requires MRI and genetic data, limiting use in low‑resource settings; focuses on cross‑sectional diagnosis, not longitudinal risk or time‑to‑conversion.pmc.ncbi.nlm.nih+1</a:t>
                      </a:r>
                      <a:endParaRPr lang="en-US" sz="900" b="0" i="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46658582"/>
                  </a:ext>
                </a:extLst>
              </a:tr>
              <a:tr h="711194">
                <a:tc>
                  <a:txBody>
                    <a:bodyPr/>
                    <a:lstStyle/>
                    <a:p>
                      <a:pPr marL="0" marR="0" indent="0" algn="l" rtl="0" fontAlgn="base">
                        <a:buNone/>
                      </a:pPr>
                      <a:r>
                        <a:rPr lang="en-US" sz="900" b="0" i="0" spc="0">
                          <a:solidFill>
                            <a:srgbClr val="000000"/>
                          </a:solidFill>
                          <a:effectLst/>
                          <a:latin typeface="Arial"/>
                        </a:rPr>
                        <a:t>8</a:t>
                      </a:r>
                      <a:endParaRPr lang="en-US" sz="900" b="0" i="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marL="0" marR="0" indent="0" algn="l" rtl="0" fontAlgn="base">
                        <a:buNone/>
                      </a:pPr>
                      <a:r>
                        <a:rPr lang="en-US" sz="900" b="0" i="0" spc="0" dirty="0">
                          <a:solidFill>
                            <a:srgbClr val="000000"/>
                          </a:solidFill>
                          <a:effectLst/>
                          <a:latin typeface="Arial"/>
                        </a:rPr>
                        <a:t>El‑Sappagh et al. (2021), “A multilayer multimodal detection and prediction model based on explainable artificial intelligence for Alzheimer’s </a:t>
                      </a:r>
                      <a:r>
                        <a:rPr lang="en-US" sz="900" b="0" i="0" spc="0">
                          <a:solidFill>
                            <a:srgbClr val="000000"/>
                          </a:solidFill>
                          <a:effectLst/>
                          <a:latin typeface="Arial"/>
                        </a:rPr>
                        <a:t>disease”</a:t>
                      </a:r>
                      <a:endParaRPr lang="en-US" sz="900" b="0" i="0" u="sng" strike="noStrike" spc="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marL="0" marR="0" indent="0" algn="l" rtl="0" fontAlgn="base">
                        <a:buNone/>
                      </a:pPr>
                      <a:r>
                        <a:rPr lang="en-US" sz="900" b="0" i="0" spc="0" dirty="0">
                          <a:solidFill>
                            <a:srgbClr val="000000"/>
                          </a:solidFill>
                          <a:effectLst/>
                          <a:latin typeface="Arial"/>
                        </a:rPr>
                        <a:t>ADNI, 4 classes, 11 </a:t>
                      </a:r>
                      <a:r>
                        <a:rPr lang="en-US" sz="900" b="0" i="0" spc="0">
                          <a:solidFill>
                            <a:srgbClr val="000000"/>
                          </a:solidFill>
                          <a:effectLst/>
                          <a:latin typeface="Arial"/>
                        </a:rPr>
                        <a:t>modalities.</a:t>
                      </a:r>
                      <a:endParaRPr lang="en-US" sz="900" b="0" i="0" u="sng" strike="noStrike" spc="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marL="0" marR="0" indent="0" algn="l" rtl="0" fontAlgn="base">
                        <a:buNone/>
                      </a:pPr>
                      <a:r>
                        <a:rPr lang="en-US" sz="900" b="0" i="0" spc="0">
                          <a:solidFill>
                            <a:srgbClr val="000000"/>
                          </a:solidFill>
                          <a:effectLst/>
                          <a:latin typeface="Arial"/>
                        </a:rPr>
                        <a:t>Two‑layer multimodal RF framework: Layer 1 multi‑class diagnosis (NC, stable MCI, progressive MCI, AD); Layer 2 3‑year MCI→AD progression prediction; explainability via SHAP, tree‑based and fuzzy‑rule explainers with natural‑language outputs.</a:t>
                      </a:r>
                      <a:endParaRPr lang="en-US" sz="900" b="0" i="0" u="sng" strike="noStrike" spc="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marL="0" marR="0" indent="0" algn="l" rtl="0" fontAlgn="base">
                        <a:buNone/>
                      </a:pPr>
                      <a:r>
                        <a:rPr lang="en-US" sz="900" b="0" i="0" spc="0">
                          <a:solidFill>
                            <a:srgbClr val="000000"/>
                          </a:solidFill>
                          <a:effectLst/>
                          <a:latin typeface="Arial"/>
                        </a:rPr>
                        <a:t>Very high cross‑validated accuracy for diagnosis (~93.9%) and progression (~87.1%) using reduced multimodal feature sets.</a:t>
                      </a:r>
                      <a:endParaRPr lang="en-US" sz="900" b="0" i="0" u="sng" strike="noStrike" spc="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marL="0" marR="0" indent="0" algn="l" rtl="0" fontAlgn="base">
                        <a:buNone/>
                      </a:pPr>
                      <a:r>
                        <a:rPr lang="en-US" sz="900" b="0" i="0" spc="0">
                          <a:solidFill>
                            <a:srgbClr val="000000"/>
                          </a:solidFill>
                          <a:effectLst/>
                          <a:latin typeface="Arial"/>
                        </a:rPr>
                        <a:t>Highly complex, ADNI‑dependent model with no external cohort validation or clear strategy for cost, missing modalities or simpler clinical‑only baselines.pubmed.ncbi.nlm.nih+1</a:t>
                      </a:r>
                      <a:endParaRPr lang="en-US" sz="900" b="0" i="0">
                        <a:solidFill>
                          <a:srgbClr val="000000"/>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171186099"/>
                  </a:ext>
                </a:extLst>
              </a:tr>
            </a:tbl>
          </a:graphicData>
        </a:graphic>
      </p:graphicFrame>
      <p:graphicFrame>
        <p:nvGraphicFramePr>
          <p:cNvPr id="9" name="Table 8">
            <a:extLst>
              <a:ext uri="{FF2B5EF4-FFF2-40B4-BE49-F238E27FC236}">
                <a16:creationId xmlns:a16="http://schemas.microsoft.com/office/drawing/2014/main" id="{30DEFBCF-D297-ABA0-6472-97C076B5A9B7}"/>
              </a:ext>
            </a:extLst>
          </p:cNvPr>
          <p:cNvGraphicFramePr>
            <a:graphicFrameLocks noGrp="1"/>
          </p:cNvGraphicFramePr>
          <p:nvPr>
            <p:extLst>
              <p:ext uri="{D42A27DB-BD31-4B8C-83A1-F6EECF244321}">
                <p14:modId xmlns:p14="http://schemas.microsoft.com/office/powerpoint/2010/main" val="3967845805"/>
              </p:ext>
            </p:extLst>
          </p:nvPr>
        </p:nvGraphicFramePr>
        <p:xfrm>
          <a:off x="472840" y="883732"/>
          <a:ext cx="8198320" cy="190500"/>
        </p:xfrm>
        <a:graphic>
          <a:graphicData uri="http://schemas.openxmlformats.org/drawingml/2006/table">
            <a:tbl>
              <a:tblPr firstRow="1" bandRow="1">
                <a:tableStyleId>{5C22544A-7EE6-4342-B048-85BDC9FD1C3A}</a:tableStyleId>
              </a:tblPr>
              <a:tblGrid>
                <a:gridCol w="444494">
                  <a:extLst>
                    <a:ext uri="{9D8B030D-6E8A-4147-A177-3AD203B41FA5}">
                      <a16:colId xmlns:a16="http://schemas.microsoft.com/office/drawing/2014/main" val="1955349711"/>
                    </a:ext>
                  </a:extLst>
                </a:gridCol>
                <a:gridCol w="1557023">
                  <a:extLst>
                    <a:ext uri="{9D8B030D-6E8A-4147-A177-3AD203B41FA5}">
                      <a16:colId xmlns:a16="http://schemas.microsoft.com/office/drawing/2014/main" val="2627120136"/>
                    </a:ext>
                  </a:extLst>
                </a:gridCol>
                <a:gridCol w="1489615">
                  <a:extLst>
                    <a:ext uri="{9D8B030D-6E8A-4147-A177-3AD203B41FA5}">
                      <a16:colId xmlns:a16="http://schemas.microsoft.com/office/drawing/2014/main" val="1215652062"/>
                    </a:ext>
                  </a:extLst>
                </a:gridCol>
                <a:gridCol w="1567729">
                  <a:extLst>
                    <a:ext uri="{9D8B030D-6E8A-4147-A177-3AD203B41FA5}">
                      <a16:colId xmlns:a16="http://schemas.microsoft.com/office/drawing/2014/main" val="1091784631"/>
                    </a:ext>
                  </a:extLst>
                </a:gridCol>
                <a:gridCol w="1575740">
                  <a:extLst>
                    <a:ext uri="{9D8B030D-6E8A-4147-A177-3AD203B41FA5}">
                      <a16:colId xmlns:a16="http://schemas.microsoft.com/office/drawing/2014/main" val="89897981"/>
                    </a:ext>
                  </a:extLst>
                </a:gridCol>
                <a:gridCol w="1563719">
                  <a:extLst>
                    <a:ext uri="{9D8B030D-6E8A-4147-A177-3AD203B41FA5}">
                      <a16:colId xmlns:a16="http://schemas.microsoft.com/office/drawing/2014/main" val="3268993530"/>
                    </a:ext>
                  </a:extLst>
                </a:gridCol>
              </a:tblGrid>
              <a:tr h="190500">
                <a:tc>
                  <a:txBody>
                    <a:bodyPr/>
                    <a:lstStyle/>
                    <a:p>
                      <a:pPr marL="0" marR="0" indent="0" algn="l" rtl="0" fontAlgn="base">
                        <a:buNone/>
                      </a:pPr>
                      <a:r>
                        <a:rPr lang="en-US" sz="900" b="0" i="0" spc="45">
                          <a:solidFill>
                            <a:srgbClr val="FFFFFF"/>
                          </a:solidFill>
                          <a:effectLst/>
                          <a:latin typeface="Arial"/>
                        </a:rPr>
                        <a:t>No.</a:t>
                      </a:r>
                      <a:endParaRPr lang="en-US" sz="900" b="1" i="0">
                        <a:solidFill>
                          <a:srgbClr val="FFFFFF"/>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rtl="0" fontAlgn="base">
                        <a:buNone/>
                      </a:pPr>
                      <a:r>
                        <a:rPr lang="en-US" sz="900" b="0" i="0" spc="45">
                          <a:solidFill>
                            <a:srgbClr val="FFFFFF"/>
                          </a:solidFill>
                          <a:effectLst/>
                          <a:latin typeface="Arial"/>
                        </a:rPr>
                        <a:t>Paper / Year (full title)</a:t>
                      </a:r>
                      <a:endParaRPr lang="en-US" sz="900" b="1" i="0">
                        <a:solidFill>
                          <a:srgbClr val="FFFFFF"/>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rtl="0" fontAlgn="base">
                        <a:buNone/>
                      </a:pPr>
                      <a:r>
                        <a:rPr lang="en-US" sz="900" b="0" i="0" spc="45">
                          <a:solidFill>
                            <a:srgbClr val="FFFFFF"/>
                          </a:solidFill>
                          <a:effectLst/>
                          <a:latin typeface="Arial"/>
                        </a:rPr>
                        <a:t>Dataset (short)</a:t>
                      </a:r>
                      <a:endParaRPr lang="en-US" sz="900" b="1" i="0">
                        <a:solidFill>
                          <a:srgbClr val="FFFFFF"/>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rtl="0" fontAlgn="base">
                        <a:buNone/>
                      </a:pPr>
                      <a:r>
                        <a:rPr lang="en-US" sz="900" b="0" i="0" spc="45">
                          <a:solidFill>
                            <a:srgbClr val="FFFFFF"/>
                          </a:solidFill>
                          <a:effectLst/>
                          <a:latin typeface="Arial"/>
                        </a:rPr>
                        <a:t>Method / Technique (full)</a:t>
                      </a:r>
                      <a:endParaRPr lang="en-US" sz="900" b="1" i="0">
                        <a:solidFill>
                          <a:srgbClr val="FFFFFF"/>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rtl="0" fontAlgn="base">
                        <a:buNone/>
                      </a:pPr>
                      <a:r>
                        <a:rPr lang="en-US" sz="900" b="0" i="0" spc="45">
                          <a:solidFill>
                            <a:srgbClr val="FFFFFF"/>
                          </a:solidFill>
                          <a:effectLst/>
                          <a:latin typeface="Arial"/>
                        </a:rPr>
                        <a:t>Key Result (short)</a:t>
                      </a:r>
                      <a:endParaRPr lang="en-US" sz="900" b="1" i="0">
                        <a:solidFill>
                          <a:srgbClr val="FFFFFF"/>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marR="0" indent="0" algn="l" rtl="0" fontAlgn="base">
                        <a:buNone/>
                      </a:pPr>
                      <a:r>
                        <a:rPr lang="en-US" sz="900" b="0" i="0" spc="45">
                          <a:solidFill>
                            <a:srgbClr val="FFFFFF"/>
                          </a:solidFill>
                          <a:effectLst/>
                          <a:latin typeface="Arial"/>
                        </a:rPr>
                        <a:t>Paper‑Specific Gap (short)</a:t>
                      </a:r>
                      <a:endParaRPr lang="en-US" sz="900" b="1" i="0">
                        <a:solidFill>
                          <a:srgbClr val="FFFFFF"/>
                        </a:solidFill>
                        <a:effectLst/>
                        <a:latin typeface="Arial"/>
                      </a:endParaRPr>
                    </a:p>
                  </a:txBody>
                  <a:tcPr marL="24032" marR="24032" marT="28842" marB="240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588176014"/>
                  </a:ext>
                </a:extLst>
              </a:tr>
            </a:tbl>
          </a:graphicData>
        </a:graphic>
      </p:graphicFrame>
    </p:spTree>
    <p:extLst>
      <p:ext uri="{BB962C8B-B14F-4D97-AF65-F5344CB8AC3E}">
        <p14:creationId xmlns:p14="http://schemas.microsoft.com/office/powerpoint/2010/main" val="157914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6" name="Rectangle 15">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57432" y="329876"/>
            <a:ext cx="3485178" cy="1624520"/>
          </a:xfrm>
        </p:spPr>
        <p:txBody>
          <a:bodyPr anchor="ctr">
            <a:normAutofit/>
          </a:bodyPr>
          <a:lstStyle/>
          <a:p>
            <a:r>
              <a:rPr lang="en-US" sz="3500"/>
              <a:t>Research Gap and addressing it </a:t>
            </a:r>
          </a:p>
        </p:txBody>
      </p:sp>
      <p:sp>
        <p:nvSpPr>
          <p:cNvPr id="17" name="Content Placeholder 2"/>
          <p:cNvSpPr>
            <a:spLocks noGrp="1"/>
          </p:cNvSpPr>
          <p:nvPr>
            <p:ph idx="1"/>
          </p:nvPr>
        </p:nvSpPr>
        <p:spPr>
          <a:xfrm>
            <a:off x="571351" y="2387600"/>
            <a:ext cx="4257339" cy="3968749"/>
          </a:xfrm>
        </p:spPr>
        <p:txBody>
          <a:bodyPr vert="horz" lIns="91440" tIns="45720" rIns="91440" bIns="45720" rtlCol="0" anchor="ctr">
            <a:normAutofit/>
          </a:bodyPr>
          <a:lstStyle/>
          <a:p>
            <a:pPr>
              <a:lnSpc>
                <a:spcPct val="90000"/>
              </a:lnSpc>
            </a:pPr>
            <a:r>
              <a:rPr lang="en-US" sz="1400">
                <a:ea typeface="+mn-lt"/>
                <a:cs typeface="+mn-lt"/>
              </a:rPr>
              <a:t>Cardiovascular biomarkers have demonstrated strong associations with cognitive decline but remain underutilized in AI-based prediction models.</a:t>
            </a:r>
          </a:p>
          <a:p>
            <a:pPr>
              <a:lnSpc>
                <a:spcPct val="90000"/>
              </a:lnSpc>
            </a:pPr>
            <a:r>
              <a:rPr lang="en-US" sz="1400">
                <a:ea typeface="+mn-lt"/>
                <a:cs typeface="+mn-lt"/>
              </a:rPr>
              <a:t>Most models lack longitudinal disease progression modeling and interpretable AI-based explanations.</a:t>
            </a:r>
            <a:endParaRPr lang="en-US" sz="1400">
              <a:ea typeface="Calibri"/>
              <a:cs typeface="Calibri"/>
            </a:endParaRPr>
          </a:p>
          <a:p>
            <a:pPr>
              <a:lnSpc>
                <a:spcPct val="90000"/>
              </a:lnSpc>
            </a:pPr>
            <a:r>
              <a:rPr lang="en-US" sz="1400">
                <a:ea typeface="+mn-lt"/>
                <a:cs typeface="+mn-lt"/>
              </a:rPr>
              <a:t>Large-scale multimodal datasets remain underutilized due to the limited integration of available clinical biomarkers.</a:t>
            </a:r>
          </a:p>
          <a:p>
            <a:pPr>
              <a:lnSpc>
                <a:spcPct val="90000"/>
              </a:lnSpc>
            </a:pPr>
            <a:r>
              <a:rPr lang="en-US" sz="1400" dirty="0">
                <a:ea typeface="+mn-lt"/>
                <a:cs typeface="+mn-lt"/>
              </a:rPr>
              <a:t>So the proposed direction to address this gap is to develop a clinically applicable multimodal AI framework that bridges the gap between cardiovascular health and cognitive disease prediction by integrating cardiovascular risk factors, longitudinal cognitive assessments, and PET biomarkers. The framework aims to provide accurate, explainable, and personalized risk assessment to support early clinical intervention.</a:t>
            </a:r>
          </a:p>
        </p:txBody>
      </p:sp>
      <p:pic>
        <p:nvPicPr>
          <p:cNvPr id="18" name="Picture 17" descr="Scan of a human brain in a neurology clinic">
            <a:extLst>
              <a:ext uri="{FF2B5EF4-FFF2-40B4-BE49-F238E27FC236}">
                <a16:creationId xmlns:a16="http://schemas.microsoft.com/office/drawing/2014/main" id="{A54E4D87-A065-06EE-9AF9-ED1BFEB115DB}"/>
              </a:ext>
            </a:extLst>
          </p:cNvPr>
          <p:cNvPicPr>
            <a:picLocks noChangeAspect="1"/>
          </p:cNvPicPr>
          <p:nvPr/>
        </p:nvPicPr>
        <p:blipFill>
          <a:blip r:embed="rId2"/>
          <a:srcRect l="49288" r="658" b="3"/>
          <a:stretch>
            <a:fillRect/>
          </a:stretch>
        </p:blipFill>
        <p:spPr>
          <a:xfrm>
            <a:off x="5120640" y="1"/>
            <a:ext cx="4018318"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8824632"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5" y="609597"/>
            <a:ext cx="7044316" cy="1330841"/>
          </a:xfrm>
        </p:spPr>
        <p:txBody>
          <a:bodyPr>
            <a:normAutofit/>
          </a:bodyPr>
          <a:lstStyle/>
          <a:p>
            <a:r>
              <a:t>Problem Statement</a:t>
            </a:r>
          </a:p>
        </p:txBody>
      </p:sp>
      <p:sp>
        <p:nvSpPr>
          <p:cNvPr id="3" name="Content Placeholder 2"/>
          <p:cNvSpPr>
            <a:spLocks noGrp="1"/>
          </p:cNvSpPr>
          <p:nvPr>
            <p:ph idx="1"/>
          </p:nvPr>
        </p:nvSpPr>
        <p:spPr>
          <a:xfrm>
            <a:off x="852775" y="2198362"/>
            <a:ext cx="3719225" cy="3917773"/>
          </a:xfrm>
        </p:spPr>
        <p:txBody>
          <a:bodyPr vert="horz" lIns="91440" tIns="45720" rIns="91440" bIns="45720" rtlCol="0">
            <a:normAutofit/>
          </a:bodyPr>
          <a:lstStyle/>
          <a:p>
            <a:pPr>
              <a:lnSpc>
                <a:spcPct val="90000"/>
              </a:lnSpc>
            </a:pPr>
            <a:r>
              <a:rPr lang="en-US" sz="1600">
                <a:ea typeface="+mn-lt"/>
                <a:cs typeface="+mn-lt"/>
              </a:rPr>
              <a:t>Existing AI models often rely on limited clinical information for cognitive disease prediction, reducing their ability to capture the complex relationship between cardiovascular health and cognitive decline. This project develops an explainable multimodal AI framework using cardiovascular, cognitive, PET, and demographic biomarkers from large-scale longitudinal datasets for early cognitive disease risk assessment. The scope is limited to risk assessment and progression prediction and does not include clinical diagnosis, treatment recommendation, or prognosis.</a:t>
            </a:r>
          </a:p>
          <a:p>
            <a:pPr marL="0" indent="0">
              <a:lnSpc>
                <a:spcPct val="90000"/>
              </a:lnSpc>
              <a:buNone/>
            </a:pPr>
            <a:endParaRPr lang="en-US" sz="1600">
              <a:ea typeface="+mn-lt"/>
              <a:cs typeface="+mn-lt"/>
            </a:endParaRPr>
          </a:p>
        </p:txBody>
      </p:sp>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036218" y="6209414"/>
            <a:ext cx="5107781"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Table 3">
            <a:extLst>
              <a:ext uri="{FF2B5EF4-FFF2-40B4-BE49-F238E27FC236}">
                <a16:creationId xmlns:a16="http://schemas.microsoft.com/office/drawing/2014/main" id="{238926E0-508E-1AC6-630F-BC4F18C2FFFD}"/>
              </a:ext>
            </a:extLst>
          </p:cNvPr>
          <p:cNvGraphicFramePr>
            <a:graphicFrameLocks noGrp="1"/>
          </p:cNvGraphicFramePr>
          <p:nvPr>
            <p:extLst>
              <p:ext uri="{D42A27DB-BD31-4B8C-83A1-F6EECF244321}">
                <p14:modId xmlns:p14="http://schemas.microsoft.com/office/powerpoint/2010/main" val="2867248518"/>
              </p:ext>
            </p:extLst>
          </p:nvPr>
        </p:nvGraphicFramePr>
        <p:xfrm>
          <a:off x="5039525" y="2640130"/>
          <a:ext cx="3591379" cy="2845485"/>
        </p:xfrm>
        <a:graphic>
          <a:graphicData uri="http://schemas.openxmlformats.org/drawingml/2006/table">
            <a:tbl>
              <a:tblPr firstRow="1" bandRow="1">
                <a:tableStyleId>{8EC20E35-A176-4012-BC5E-935CFFF8708E}</a:tableStyleId>
              </a:tblPr>
              <a:tblGrid>
                <a:gridCol w="1798794">
                  <a:extLst>
                    <a:ext uri="{9D8B030D-6E8A-4147-A177-3AD203B41FA5}">
                      <a16:colId xmlns:a16="http://schemas.microsoft.com/office/drawing/2014/main" val="2996998214"/>
                    </a:ext>
                  </a:extLst>
                </a:gridCol>
                <a:gridCol w="1792585">
                  <a:extLst>
                    <a:ext uri="{9D8B030D-6E8A-4147-A177-3AD203B41FA5}">
                      <a16:colId xmlns:a16="http://schemas.microsoft.com/office/drawing/2014/main" val="3216029808"/>
                    </a:ext>
                  </a:extLst>
                </a:gridCol>
              </a:tblGrid>
              <a:tr h="314752">
                <a:tc>
                  <a:txBody>
                    <a:bodyPr/>
                    <a:lstStyle/>
                    <a:p>
                      <a:pPr lvl="0">
                        <a:buNone/>
                      </a:pPr>
                      <a:r>
                        <a:rPr lang="en-US" sz="1400"/>
                        <a:t>In scope</a:t>
                      </a:r>
                    </a:p>
                  </a:txBody>
                  <a:tcPr marL="71534" marR="71534" marT="35767" marB="35767"/>
                </a:tc>
                <a:tc>
                  <a:txBody>
                    <a:bodyPr/>
                    <a:lstStyle/>
                    <a:p>
                      <a:r>
                        <a:rPr lang="en-US" sz="1400"/>
                        <a:t>Out of scope</a:t>
                      </a:r>
                    </a:p>
                  </a:txBody>
                  <a:tcPr marL="71534" marR="71534" marT="35767" marB="35767"/>
                </a:tc>
                <a:extLst>
                  <a:ext uri="{0D108BD9-81ED-4DB2-BD59-A6C34878D82A}">
                    <a16:rowId xmlns:a16="http://schemas.microsoft.com/office/drawing/2014/main" val="72177942"/>
                  </a:ext>
                </a:extLst>
              </a:tr>
              <a:tr h="433976">
                <a:tc>
                  <a:txBody>
                    <a:bodyPr/>
                    <a:lstStyle/>
                    <a:p>
                      <a:pPr lvl="0">
                        <a:buNone/>
                      </a:pPr>
                      <a:r>
                        <a:rPr lang="en-US" sz="1100" b="0" u="none" strike="noStrike" noProof="0"/>
                        <a:t>Risk assessment &amp; progression prediction</a:t>
                      </a:r>
                      <a:endParaRPr lang="en-US" sz="1100"/>
                    </a:p>
                  </a:txBody>
                  <a:tcPr marL="71534" marR="71534" marT="35767" marB="35767"/>
                </a:tc>
                <a:tc>
                  <a:txBody>
                    <a:bodyPr/>
                    <a:lstStyle/>
                    <a:p>
                      <a:pPr lvl="0">
                        <a:buNone/>
                      </a:pPr>
                      <a:r>
                        <a:rPr lang="en-US" sz="1100" b="0" u="none" strike="noStrike" noProof="0"/>
                        <a:t>Clinical diagnosis</a:t>
                      </a:r>
                      <a:endParaRPr lang="en-US" sz="1400"/>
                    </a:p>
                  </a:txBody>
                  <a:tcPr marL="71534" marR="71534" marT="35767" marB="35767"/>
                </a:tc>
                <a:extLst>
                  <a:ext uri="{0D108BD9-81ED-4DB2-BD59-A6C34878D82A}">
                    <a16:rowId xmlns:a16="http://schemas.microsoft.com/office/drawing/2014/main" val="419508441"/>
                  </a:ext>
                </a:extLst>
              </a:tr>
              <a:tr h="767804">
                <a:tc>
                  <a:txBody>
                    <a:bodyPr/>
                    <a:lstStyle/>
                    <a:p>
                      <a:pPr lvl="0">
                        <a:buNone/>
                      </a:pPr>
                      <a:r>
                        <a:rPr lang="en-US" sz="1100" b="0" u="none" strike="noStrike" noProof="0"/>
                        <a:t>Multimodal integration: cardiovascular, cognitive, PET, demographic biomarkers</a:t>
                      </a:r>
                      <a:endParaRPr lang="en-US" sz="1400"/>
                    </a:p>
                  </a:txBody>
                  <a:tcPr marL="71534" marR="71534" marT="35767" marB="35767"/>
                </a:tc>
                <a:tc>
                  <a:txBody>
                    <a:bodyPr/>
                    <a:lstStyle/>
                    <a:p>
                      <a:pPr lvl="0">
                        <a:buNone/>
                      </a:pPr>
                      <a:r>
                        <a:rPr lang="en-US" sz="1100" b="0" u="none" strike="noStrike" noProof="0"/>
                        <a:t>Treatment recommendation</a:t>
                      </a:r>
                      <a:endParaRPr lang="en-US" sz="1400"/>
                    </a:p>
                  </a:txBody>
                  <a:tcPr marL="71534" marR="71534" marT="35767" marB="35767"/>
                </a:tc>
                <a:extLst>
                  <a:ext uri="{0D108BD9-81ED-4DB2-BD59-A6C34878D82A}">
                    <a16:rowId xmlns:a16="http://schemas.microsoft.com/office/drawing/2014/main" val="3992535431"/>
                  </a:ext>
                </a:extLst>
              </a:tr>
              <a:tr h="600890">
                <a:tc>
                  <a:txBody>
                    <a:bodyPr/>
                    <a:lstStyle/>
                    <a:p>
                      <a:pPr lvl="0">
                        <a:buNone/>
                      </a:pPr>
                      <a:r>
                        <a:rPr lang="en-US" sz="1100" b="0" u="none" strike="noStrike" noProof="0"/>
                        <a:t>RAG-based retrieval of clinical evidence for grounding predictions</a:t>
                      </a:r>
                      <a:endParaRPr lang="en-US" sz="1400"/>
                    </a:p>
                  </a:txBody>
                  <a:tcPr marL="71534" marR="71534" marT="35767" marB="35767"/>
                </a:tc>
                <a:tc>
                  <a:txBody>
                    <a:bodyPr/>
                    <a:lstStyle/>
                    <a:p>
                      <a:pPr lvl="0">
                        <a:buNone/>
                      </a:pPr>
                      <a:r>
                        <a:rPr lang="en-US" sz="1100" b="0" u="none" strike="noStrike" noProof="0"/>
                        <a:t>Post-diagnosis prognosis (e.g., survival, symptom trajectory)</a:t>
                      </a:r>
                      <a:endParaRPr lang="en-US" sz="1400"/>
                    </a:p>
                  </a:txBody>
                  <a:tcPr marL="71534" marR="71534" marT="35767" marB="35767"/>
                </a:tc>
                <a:extLst>
                  <a:ext uri="{0D108BD9-81ED-4DB2-BD59-A6C34878D82A}">
                    <a16:rowId xmlns:a16="http://schemas.microsoft.com/office/drawing/2014/main" val="251625296"/>
                  </a:ext>
                </a:extLst>
              </a:tr>
              <a:tr h="433976">
                <a:tc>
                  <a:txBody>
                    <a:bodyPr/>
                    <a:lstStyle/>
                    <a:p>
                      <a:pPr lvl="0">
                        <a:buNone/>
                      </a:pPr>
                      <a:r>
                        <a:rPr lang="en-US" sz="1100" b="0" u="none" strike="noStrike" noProof="0"/>
                        <a:t>Explainable model outputs (interpretable risk drivers)</a:t>
                      </a:r>
                      <a:endParaRPr lang="en-US" sz="1400"/>
                    </a:p>
                  </a:txBody>
                  <a:tcPr marL="71534" marR="71534" marT="35767" marB="35767"/>
                </a:tc>
                <a:tc>
                  <a:txBody>
                    <a:bodyPr/>
                    <a:lstStyle/>
                    <a:p>
                      <a:pPr lvl="0">
                        <a:buNone/>
                      </a:pPr>
                      <a:r>
                        <a:rPr lang="en-US" sz="1100" b="0" u="none" strike="noStrike" noProof="0"/>
                        <a:t>External cohort validation</a:t>
                      </a:r>
                      <a:endParaRPr lang="en-US" sz="1400"/>
                    </a:p>
                  </a:txBody>
                  <a:tcPr marL="71534" marR="71534" marT="35767" marB="35767"/>
                </a:tc>
                <a:extLst>
                  <a:ext uri="{0D108BD9-81ED-4DB2-BD59-A6C34878D82A}">
                    <a16:rowId xmlns:a16="http://schemas.microsoft.com/office/drawing/2014/main" val="2586390045"/>
                  </a:ext>
                </a:extLst>
              </a:tr>
              <a:tr h="294087">
                <a:tc>
                  <a:txBody>
                    <a:bodyPr/>
                    <a:lstStyle/>
                    <a:p>
                      <a:pPr lvl="0">
                        <a:buNone/>
                      </a:pPr>
                      <a:endParaRPr lang="en-US" sz="1100"/>
                    </a:p>
                  </a:txBody>
                  <a:tcPr marL="71534" marR="71534" marT="35767" marB="35767"/>
                </a:tc>
                <a:tc>
                  <a:txBody>
                    <a:bodyPr/>
                    <a:lstStyle/>
                    <a:p>
                      <a:pPr lvl="0">
                        <a:buNone/>
                      </a:pPr>
                      <a:endParaRPr lang="en-US" sz="1100"/>
                    </a:p>
                  </a:txBody>
                  <a:tcPr marL="71534" marR="71534" marT="35767" marB="35767"/>
                </a:tc>
                <a:extLst>
                  <a:ext uri="{0D108BD9-81ED-4DB2-BD59-A6C34878D82A}">
                    <a16:rowId xmlns:a16="http://schemas.microsoft.com/office/drawing/2014/main" val="124585594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US" sz="4100">
                <a:solidFill>
                  <a:srgbClr val="FFFFFF"/>
                </a:solidFill>
              </a:rPr>
              <a:t>Objectives</a:t>
            </a: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vert="horz" lIns="91440" tIns="45720" rIns="91440" bIns="45720" rtlCol="0" anchor="ctr">
            <a:normAutofit/>
          </a:bodyPr>
          <a:lstStyle/>
          <a:p>
            <a:pPr>
              <a:lnSpc>
                <a:spcPct val="90000"/>
              </a:lnSpc>
            </a:pPr>
            <a:r>
              <a:rPr lang="en-US" sz="1500">
                <a:ea typeface="+mn-lt"/>
                <a:cs typeface="+mn-lt"/>
              </a:rPr>
              <a:t>Design a multimodal AI framework that combines cardiovascular, cognitive, PET, and demographic data to assess cognitive decline risk, instead of relying on a single data type the way most existing models do.</a:t>
            </a:r>
          </a:p>
          <a:p>
            <a:pPr>
              <a:lnSpc>
                <a:spcPct val="90000"/>
              </a:lnSpc>
            </a:pPr>
            <a:r>
              <a:rPr lang="en-US" sz="1500" dirty="0">
                <a:ea typeface="+mn-lt"/>
                <a:cs typeface="+mn-lt"/>
              </a:rPr>
              <a:t>Work with real-world longitudinal data (NACC </a:t>
            </a:r>
            <a:r>
              <a:rPr lang="en-US" sz="1500" dirty="0" err="1">
                <a:ea typeface="+mn-lt"/>
                <a:cs typeface="+mn-lt"/>
              </a:rPr>
              <a:t>cohort,NHANES</a:t>
            </a:r>
            <a:r>
              <a:rPr lang="en-US" sz="1500" dirty="0">
                <a:ea typeface="+mn-lt"/>
                <a:cs typeface="+mn-lt"/>
              </a:rPr>
              <a:t> and more) and address a key practical challenge — most patients don't have complete data across all modalities, especially PET — by building a model that still performs well with partial information.</a:t>
            </a:r>
            <a:endParaRPr lang="en-US" sz="1500" dirty="0"/>
          </a:p>
          <a:p>
            <a:pPr>
              <a:lnSpc>
                <a:spcPct val="90000"/>
              </a:lnSpc>
            </a:pPr>
            <a:r>
              <a:rPr lang="en-US" sz="1500">
                <a:ea typeface="+mn-lt"/>
                <a:cs typeface="+mn-lt"/>
              </a:rPr>
              <a:t>Incorporate a retrieval-augmented (RAG) component so the model's predictions are backed by relevant clinical evidence, rather than just producing a risk score with no explanation of "why."</a:t>
            </a:r>
            <a:endParaRPr lang="en-US" sz="1500"/>
          </a:p>
          <a:p>
            <a:pPr>
              <a:lnSpc>
                <a:spcPct val="90000"/>
              </a:lnSpc>
            </a:pPr>
            <a:r>
              <a:rPr lang="en-US" sz="1500" dirty="0">
                <a:ea typeface="+mn-lt"/>
                <a:cs typeface="+mn-lt"/>
              </a:rPr>
              <a:t>Make the model's decisions interpretable, using explainability techniques (e.g., SHAP, </a:t>
            </a:r>
            <a:r>
              <a:rPr lang="en-US" sz="1500" dirty="0" err="1">
                <a:ea typeface="+mn-lt"/>
                <a:cs typeface="+mn-lt"/>
              </a:rPr>
              <a:t>DiCE</a:t>
            </a:r>
            <a:r>
              <a:rPr lang="en-US" sz="1500" dirty="0">
                <a:ea typeface="+mn-lt"/>
                <a:cs typeface="+mn-lt"/>
              </a:rPr>
              <a:t>) so clinicians and researchers can understand which factors are driving a given risk prediction.</a:t>
            </a:r>
            <a:endParaRPr lang="en-US" sz="1500" dirty="0"/>
          </a:p>
          <a:p>
            <a:pPr>
              <a:lnSpc>
                <a:spcPct val="90000"/>
              </a:lnSpc>
            </a:pPr>
            <a:r>
              <a:rPr lang="en-US" sz="1500">
                <a:ea typeface="+mn-lt"/>
                <a:cs typeface="+mn-lt"/>
              </a:rPr>
              <a:t>Distinguish between predicting a patient's current risk level and predicting how their condition might progress over time, since these are related but different problems that need to be handled thoughtfully.</a:t>
            </a:r>
          </a:p>
          <a:p>
            <a:pPr>
              <a:lnSpc>
                <a:spcPct val="90000"/>
              </a:lnSpc>
            </a:pPr>
            <a:endParaRPr lang="en-US" sz="1500">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68645" y="2687003"/>
            <a:ext cx="3007360" cy="1639494"/>
          </a:xfrm>
        </p:spPr>
        <p:txBody>
          <a:bodyPr vert="horz" lIns="91440" tIns="45720" rIns="91440" bIns="45720" rtlCol="0" anchor="b">
            <a:normAutofit fontScale="90000"/>
          </a:bodyPr>
          <a:lstStyle/>
          <a:p>
            <a:pPr algn="l" defTabSz="914400">
              <a:lnSpc>
                <a:spcPct val="90000"/>
              </a:lnSpc>
            </a:pPr>
            <a:r>
              <a:rPr lang="en-US" sz="3900" kern="1200">
                <a:solidFill>
                  <a:schemeClr val="tx1"/>
                </a:solidFill>
                <a:latin typeface="+mj-lt"/>
                <a:ea typeface="+mj-ea"/>
                <a:cs typeface="+mj-cs"/>
              </a:rPr>
              <a:t>Proposed Methodology / Framework</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30175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Picture 5">
            <a:extLst>
              <a:ext uri="{FF2B5EF4-FFF2-40B4-BE49-F238E27FC236}">
                <a16:creationId xmlns:a16="http://schemas.microsoft.com/office/drawing/2014/main" id="{EA06DB87-09EC-3D37-74D5-4DB9284A5F87}"/>
              </a:ext>
            </a:extLst>
          </p:cNvPr>
          <p:cNvPicPr>
            <a:picLocks noChangeAspect="1"/>
          </p:cNvPicPr>
          <p:nvPr/>
        </p:nvPicPr>
        <p:blipFill>
          <a:blip r:embed="rId2"/>
          <a:stretch>
            <a:fillRect/>
          </a:stretch>
        </p:blipFill>
        <p:spPr>
          <a:xfrm>
            <a:off x="3363976" y="772086"/>
            <a:ext cx="5419252" cy="54978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Techniques &amp; Tools</a:t>
            </a:r>
          </a:p>
        </p:txBody>
      </p:sp>
      <p:sp>
        <p:nvSpPr>
          <p:cNvPr id="3" name="Content Placeholder 2"/>
          <p:cNvSpPr>
            <a:spLocks noGrp="1"/>
          </p:cNvSpPr>
          <p:nvPr>
            <p:ph idx="1"/>
          </p:nvPr>
        </p:nvSpPr>
        <p:spPr>
          <a:xfrm>
            <a:off x="457200" y="1203960"/>
            <a:ext cx="8229600" cy="5389563"/>
          </a:xfrm>
        </p:spPr>
        <p:txBody>
          <a:bodyPr vert="horz" lIns="91440" tIns="45720" rIns="91440" bIns="45720" rtlCol="0" anchor="t">
            <a:normAutofit fontScale="55000" lnSpcReduction="20000"/>
          </a:bodyPr>
          <a:lstStyle/>
          <a:p>
            <a:pPr marL="0" indent="0">
              <a:buNone/>
            </a:pPr>
            <a:endParaRPr lang="en-US" b="1" dirty="0">
              <a:ea typeface="+mn-lt"/>
              <a:cs typeface="+mn-lt"/>
            </a:endParaRPr>
          </a:p>
          <a:p>
            <a:pPr marL="0" indent="0">
              <a:buNone/>
            </a:pPr>
            <a:r>
              <a:rPr lang="en-US" b="1">
                <a:ea typeface="+mn-lt"/>
                <a:cs typeface="+mn-lt"/>
              </a:rPr>
              <a:t>Algorithms &amp; why chosen</a:t>
            </a:r>
            <a:endParaRPr lang="en-US">
              <a:ea typeface="Calibri"/>
              <a:cs typeface="Calibri"/>
            </a:endParaRPr>
          </a:p>
          <a:p>
            <a:pPr lvl="1">
              <a:buFont typeface="Courier New"/>
              <a:buChar char="o"/>
            </a:pPr>
            <a:r>
              <a:rPr lang="en-US" dirty="0">
                <a:ea typeface="+mn-lt"/>
                <a:cs typeface="+mn-lt"/>
              </a:rPr>
              <a:t>Gradient-boosted trees (</a:t>
            </a:r>
            <a:r>
              <a:rPr lang="en-US" dirty="0" err="1">
                <a:ea typeface="+mn-lt"/>
                <a:cs typeface="+mn-lt"/>
              </a:rPr>
              <a:t>XGBoost</a:t>
            </a:r>
            <a:r>
              <a:rPr lang="en-US" dirty="0">
                <a:ea typeface="+mn-lt"/>
                <a:cs typeface="+mn-lt"/>
              </a:rPr>
              <a:t>/</a:t>
            </a:r>
            <a:r>
              <a:rPr lang="en-US" dirty="0" err="1">
                <a:ea typeface="+mn-lt"/>
                <a:cs typeface="+mn-lt"/>
              </a:rPr>
              <a:t>CatBoost</a:t>
            </a:r>
            <a:r>
              <a:rPr lang="en-US" dirty="0">
                <a:ea typeface="+mn-lt"/>
                <a:cs typeface="+mn-lt"/>
              </a:rPr>
              <a:t>) for cardio/demographic data — captures non-linear risk interactions better than logistic regression</a:t>
            </a:r>
            <a:endParaRPr lang="en-US" dirty="0">
              <a:ea typeface="Calibri"/>
              <a:cs typeface="Calibri"/>
            </a:endParaRPr>
          </a:p>
          <a:p>
            <a:pPr lvl="1">
              <a:buFont typeface="Courier New"/>
              <a:buChar char="o"/>
            </a:pPr>
            <a:r>
              <a:rPr lang="en-US">
                <a:ea typeface="+mn-lt"/>
                <a:cs typeface="+mn-lt"/>
              </a:rPr>
              <a:t>LSTM/Transformer for cognitive trajectories — models rate of decline, not just latest score, unlike static averaging</a:t>
            </a:r>
            <a:endParaRPr lang="en-US">
              <a:ea typeface="Calibri"/>
              <a:cs typeface="Calibri"/>
            </a:endParaRPr>
          </a:p>
          <a:p>
            <a:pPr lvl="1">
              <a:buFont typeface="Courier New"/>
              <a:buChar char="o"/>
            </a:pPr>
            <a:r>
              <a:rPr lang="en-US" dirty="0">
                <a:ea typeface="+mn-lt"/>
                <a:cs typeface="+mn-lt"/>
              </a:rPr>
              <a:t>CNN (3D </a:t>
            </a:r>
            <a:r>
              <a:rPr lang="en-US" dirty="0" err="1">
                <a:ea typeface="+mn-lt"/>
                <a:cs typeface="+mn-lt"/>
              </a:rPr>
              <a:t>ResNet</a:t>
            </a:r>
            <a:r>
              <a:rPr lang="en-US" dirty="0">
                <a:ea typeface="+mn-lt"/>
                <a:cs typeface="+mn-lt"/>
              </a:rPr>
              <a:t>) for PET scans — standard for volumetric imaging, pairs with Grad-CAM</a:t>
            </a:r>
            <a:endParaRPr lang="en-US" dirty="0">
              <a:ea typeface="Calibri"/>
              <a:cs typeface="Calibri"/>
            </a:endParaRPr>
          </a:p>
          <a:p>
            <a:pPr lvl="1">
              <a:buFont typeface="Courier New"/>
              <a:buChar char="o"/>
            </a:pPr>
            <a:r>
              <a:rPr lang="en-US">
                <a:ea typeface="+mn-lt"/>
                <a:cs typeface="+mn-lt"/>
              </a:rPr>
              <a:t>RAG (dense retrieval) — grounds predictions in evidence, generalizes better than a fixed rule-based knowledge base</a:t>
            </a:r>
            <a:endParaRPr lang="en-US">
              <a:ea typeface="Calibri"/>
              <a:cs typeface="Calibri"/>
            </a:endParaRPr>
          </a:p>
          <a:p>
            <a:pPr lvl="1">
              <a:buFont typeface="Courier New"/>
              <a:buChar char="o"/>
            </a:pPr>
            <a:r>
              <a:rPr lang="en-US">
                <a:ea typeface="+mn-lt"/>
                <a:cs typeface="+mn-lt"/>
              </a:rPr>
              <a:t>Attention-based fusion — down-weights missing modalities per patient, avoiding blanket imputation</a:t>
            </a:r>
            <a:endParaRPr lang="en-US">
              <a:ea typeface="Calibri"/>
              <a:cs typeface="Calibri"/>
            </a:endParaRPr>
          </a:p>
          <a:p>
            <a:pPr lvl="1">
              <a:buFont typeface="Courier New"/>
              <a:buChar char="o"/>
            </a:pPr>
            <a:endParaRPr lang="en-US" dirty="0">
              <a:ea typeface="+mn-lt"/>
              <a:cs typeface="+mn-lt"/>
            </a:endParaRPr>
          </a:p>
          <a:p>
            <a:pPr marL="0" indent="0">
              <a:buNone/>
            </a:pPr>
            <a:r>
              <a:rPr lang="en-US" b="1">
                <a:ea typeface="+mn-lt"/>
                <a:cs typeface="+mn-lt"/>
              </a:rPr>
              <a:t>Explainability</a:t>
            </a:r>
            <a:endParaRPr lang="en-US">
              <a:ea typeface="Calibri"/>
              <a:cs typeface="Calibri"/>
            </a:endParaRPr>
          </a:p>
          <a:p>
            <a:pPr lvl="1">
              <a:buFont typeface="Courier New"/>
              <a:buChar char="o"/>
            </a:pPr>
            <a:r>
              <a:rPr lang="en-US" dirty="0">
                <a:ea typeface="+mn-lt"/>
                <a:cs typeface="+mn-lt"/>
              </a:rPr>
              <a:t>SHAP (tabular), Grad-CAM (PET), attention weights (RAG), </a:t>
            </a:r>
            <a:r>
              <a:rPr lang="en-US" dirty="0" err="1">
                <a:ea typeface="+mn-lt"/>
                <a:cs typeface="+mn-lt"/>
              </a:rPr>
              <a:t>DiCE</a:t>
            </a:r>
            <a:r>
              <a:rPr lang="en-US" dirty="0">
                <a:ea typeface="+mn-lt"/>
                <a:cs typeface="+mn-lt"/>
              </a:rPr>
              <a:t> (counterfactuals)</a:t>
            </a:r>
            <a:endParaRPr lang="en-US" dirty="0">
              <a:ea typeface="Calibri"/>
              <a:cs typeface="Calibri"/>
            </a:endParaRPr>
          </a:p>
          <a:p>
            <a:pPr lvl="1">
              <a:buFont typeface="Courier New"/>
              <a:buChar char="o"/>
            </a:pPr>
            <a:endParaRPr lang="en-US" dirty="0">
              <a:ea typeface="+mn-lt"/>
              <a:cs typeface="+mn-lt"/>
            </a:endParaRPr>
          </a:p>
          <a:p>
            <a:pPr marL="0" indent="0">
              <a:buNone/>
            </a:pPr>
            <a:r>
              <a:rPr lang="en-US" b="1">
                <a:ea typeface="+mn-lt"/>
                <a:cs typeface="+mn-lt"/>
              </a:rPr>
              <a:t>Dataset</a:t>
            </a:r>
            <a:endParaRPr lang="en-US">
              <a:ea typeface="Calibri"/>
              <a:cs typeface="Calibri"/>
            </a:endParaRPr>
          </a:p>
          <a:p>
            <a:pPr lvl="1">
              <a:buFont typeface="Courier New"/>
              <a:buChar char="o"/>
            </a:pPr>
            <a:r>
              <a:rPr lang="en-US">
                <a:ea typeface="+mn-lt"/>
                <a:cs typeface="+mn-lt"/>
              </a:rPr>
              <a:t>NACC cohort via ADSP-PHC harmonized release (Feb 2026, ng00067.v20)</a:t>
            </a:r>
            <a:endParaRPr lang="en-US">
              <a:ea typeface="Calibri"/>
              <a:cs typeface="Calibri"/>
            </a:endParaRPr>
          </a:p>
          <a:p>
            <a:pPr lvl="1">
              <a:buFont typeface="Courier New"/>
              <a:buChar char="o"/>
            </a:pPr>
            <a:endParaRPr lang="en-US" dirty="0">
              <a:ea typeface="+mn-lt"/>
              <a:cs typeface="+mn-lt"/>
            </a:endParaRPr>
          </a:p>
          <a:p>
            <a:pPr marL="0" indent="0">
              <a:buNone/>
            </a:pPr>
            <a:r>
              <a:rPr lang="en-US" b="1">
                <a:ea typeface="+mn-lt"/>
                <a:cs typeface="+mn-lt"/>
              </a:rPr>
              <a:t>Platforms &amp; hardware</a:t>
            </a:r>
            <a:endParaRPr lang="en-US">
              <a:ea typeface="Calibri"/>
              <a:cs typeface="Calibri"/>
            </a:endParaRPr>
          </a:p>
          <a:p>
            <a:pPr lvl="1">
              <a:buFont typeface="Courier New"/>
              <a:buChar char="o"/>
            </a:pPr>
            <a:r>
              <a:rPr lang="en-US" dirty="0">
                <a:ea typeface="+mn-lt"/>
                <a:cs typeface="+mn-lt"/>
              </a:rPr>
              <a:t>Python (</a:t>
            </a:r>
            <a:r>
              <a:rPr lang="en-US" dirty="0" err="1">
                <a:ea typeface="+mn-lt"/>
                <a:cs typeface="+mn-lt"/>
              </a:rPr>
              <a:t>PyTorch</a:t>
            </a:r>
            <a:r>
              <a:rPr lang="en-US" dirty="0">
                <a:ea typeface="+mn-lt"/>
                <a:cs typeface="+mn-lt"/>
              </a:rPr>
              <a:t>/TensorFlow), GPU compute for CNN/transformer training</a:t>
            </a:r>
            <a:endParaRPr lang="en-US" dirty="0">
              <a:ea typeface="Calibri"/>
              <a:cs typeface="Calibri"/>
            </a:endParaRPr>
          </a:p>
          <a:p>
            <a:pPr lvl="1">
              <a:buFont typeface="Courier New"/>
              <a:buChar char="o"/>
            </a:pPr>
            <a:r>
              <a:rPr lang="en-US" dirty="0">
                <a:ea typeface="+mn-lt"/>
                <a:cs typeface="+mn-lt"/>
              </a:rPr>
              <a:t>FAISS/Chroma (vector DB for RAG), SHAP/</a:t>
            </a:r>
            <a:r>
              <a:rPr lang="en-US" dirty="0" err="1">
                <a:ea typeface="+mn-lt"/>
                <a:cs typeface="+mn-lt"/>
              </a:rPr>
              <a:t>Captum</a:t>
            </a:r>
            <a:r>
              <a:rPr lang="en-US" dirty="0">
                <a:ea typeface="+mn-lt"/>
                <a:cs typeface="+mn-lt"/>
              </a:rPr>
              <a:t>/</a:t>
            </a:r>
            <a:r>
              <a:rPr lang="en-US" dirty="0" err="1">
                <a:ea typeface="+mn-lt"/>
                <a:cs typeface="+mn-lt"/>
              </a:rPr>
              <a:t>DiCE</a:t>
            </a:r>
            <a:r>
              <a:rPr lang="en-US" dirty="0">
                <a:ea typeface="+mn-lt"/>
                <a:cs typeface="+mn-lt"/>
              </a:rPr>
              <a:t>-ML (explainability libs)</a:t>
            </a:r>
            <a:endParaRPr lang="en-US" dirty="0">
              <a:ea typeface="Calibri"/>
              <a:cs typeface="Calibri"/>
            </a:endParaRPr>
          </a:p>
          <a:p>
            <a:pPr lvl="1">
              <a:buFont typeface="Courier New"/>
              <a:buChar char="o"/>
            </a:pPr>
            <a:endParaRPr dirty="0">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548640"/>
            <a:ext cx="2700645" cy="5431536"/>
          </a:xfrm>
        </p:spPr>
        <p:txBody>
          <a:bodyPr>
            <a:normAutofit/>
          </a:bodyPr>
          <a:lstStyle/>
          <a:p>
            <a:r>
              <a:rPr lang="en-US" sz="4700"/>
              <a:t>Expected Outcomes</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sX0" fmla="*/ 0 w 4480560"/>
              <a:gd name="csY0" fmla="*/ 0 h 13716"/>
              <a:gd name="csX1" fmla="*/ 595274 w 4480560"/>
              <a:gd name="csY1" fmla="*/ 0 h 13716"/>
              <a:gd name="csX2" fmla="*/ 1100938 w 4480560"/>
              <a:gd name="csY2" fmla="*/ 0 h 13716"/>
              <a:gd name="csX3" fmla="*/ 1651406 w 4480560"/>
              <a:gd name="csY3" fmla="*/ 0 h 13716"/>
              <a:gd name="csX4" fmla="*/ 2336292 w 4480560"/>
              <a:gd name="csY4" fmla="*/ 0 h 13716"/>
              <a:gd name="csX5" fmla="*/ 2931566 w 4480560"/>
              <a:gd name="csY5" fmla="*/ 0 h 13716"/>
              <a:gd name="csX6" fmla="*/ 3482035 w 4480560"/>
              <a:gd name="csY6" fmla="*/ 0 h 13716"/>
              <a:gd name="csX7" fmla="*/ 4480560 w 4480560"/>
              <a:gd name="csY7" fmla="*/ 0 h 13716"/>
              <a:gd name="csX8" fmla="*/ 4480560 w 4480560"/>
              <a:gd name="csY8" fmla="*/ 13716 h 13716"/>
              <a:gd name="csX9" fmla="*/ 3840480 w 4480560"/>
              <a:gd name="csY9" fmla="*/ 13716 h 13716"/>
              <a:gd name="csX10" fmla="*/ 3290011 w 4480560"/>
              <a:gd name="csY10" fmla="*/ 13716 h 13716"/>
              <a:gd name="csX11" fmla="*/ 2560320 w 4480560"/>
              <a:gd name="csY11" fmla="*/ 13716 h 13716"/>
              <a:gd name="csX12" fmla="*/ 1965046 w 4480560"/>
              <a:gd name="csY12" fmla="*/ 13716 h 13716"/>
              <a:gd name="csX13" fmla="*/ 1459382 w 4480560"/>
              <a:gd name="csY13" fmla="*/ 13716 h 13716"/>
              <a:gd name="csX14" fmla="*/ 774497 w 4480560"/>
              <a:gd name="csY14" fmla="*/ 13716 h 13716"/>
              <a:gd name="csX15" fmla="*/ 0 w 4480560"/>
              <a:gd name="csY15" fmla="*/ 13716 h 13716"/>
              <a:gd name="csX16" fmla="*/ 0 w 4480560"/>
              <a:gd name="csY1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44813" y="552091"/>
            <a:ext cx="4668251" cy="5431536"/>
          </a:xfrm>
        </p:spPr>
        <p:txBody>
          <a:bodyPr vert="horz" lIns="91440" tIns="45720" rIns="91440" bIns="45720" rtlCol="0" anchor="ctr">
            <a:normAutofit/>
          </a:bodyPr>
          <a:lstStyle/>
          <a:p>
            <a:pPr marL="0" indent="0">
              <a:lnSpc>
                <a:spcPct val="90000"/>
              </a:lnSpc>
              <a:buNone/>
            </a:pPr>
            <a:r>
              <a:rPr lang="en-US" sz="1300" b="1">
                <a:ea typeface="+mn-lt"/>
                <a:cs typeface="+mn-lt"/>
              </a:rPr>
              <a:t>Deliverables</a:t>
            </a:r>
            <a:endParaRPr lang="en-US" sz="1300">
              <a:ea typeface="Calibri"/>
              <a:cs typeface="Calibri"/>
            </a:endParaRPr>
          </a:p>
          <a:p>
            <a:pPr>
              <a:lnSpc>
                <a:spcPct val="90000"/>
              </a:lnSpc>
            </a:pPr>
            <a:r>
              <a:rPr lang="en-US" sz="1300">
                <a:ea typeface="+mn-lt"/>
                <a:cs typeface="+mn-lt"/>
              </a:rPr>
              <a:t>A trained two-tier multimodal model producing cognitive-decline risk classification and progression estimates from cardiovascular, cognitive, PET, and demographic data</a:t>
            </a:r>
            <a:endParaRPr lang="en-US" sz="1300"/>
          </a:p>
          <a:p>
            <a:pPr>
              <a:lnSpc>
                <a:spcPct val="90000"/>
              </a:lnSpc>
            </a:pPr>
            <a:r>
              <a:rPr lang="en-US" sz="1300">
                <a:ea typeface="+mn-lt"/>
                <a:cs typeface="+mn-lt"/>
              </a:rPr>
              <a:t>A working RAG module retrieving relevant clinical evidence to help ground predictions</a:t>
            </a:r>
            <a:endParaRPr lang="en-US" sz="1300"/>
          </a:p>
          <a:p>
            <a:pPr>
              <a:lnSpc>
                <a:spcPct val="90000"/>
              </a:lnSpc>
            </a:pPr>
            <a:r>
              <a:rPr lang="en-US" sz="1300" dirty="0">
                <a:ea typeface="+mn-lt"/>
                <a:cs typeface="+mn-lt"/>
              </a:rPr>
              <a:t>An explainability layer providing per-prediction attributions via a subset of SHAP, Grad-CAM, attention weights, and </a:t>
            </a:r>
            <a:r>
              <a:rPr lang="en-US" sz="1300" dirty="0" err="1">
                <a:ea typeface="+mn-lt"/>
                <a:cs typeface="+mn-lt"/>
              </a:rPr>
              <a:t>DiCE</a:t>
            </a:r>
            <a:r>
              <a:rPr lang="en-US" sz="1300" dirty="0">
                <a:ea typeface="+mn-lt"/>
                <a:cs typeface="+mn-lt"/>
              </a:rPr>
              <a:t> (finalized during implementation)</a:t>
            </a:r>
            <a:endParaRPr lang="en-US" sz="1300" dirty="0"/>
          </a:p>
          <a:p>
            <a:pPr marL="0" indent="0">
              <a:lnSpc>
                <a:spcPct val="90000"/>
              </a:lnSpc>
              <a:buNone/>
            </a:pPr>
            <a:endParaRPr lang="en-US" sz="1300">
              <a:ea typeface="+mn-lt"/>
              <a:cs typeface="+mn-lt"/>
            </a:endParaRPr>
          </a:p>
          <a:p>
            <a:pPr marL="0" indent="0">
              <a:lnSpc>
                <a:spcPct val="90000"/>
              </a:lnSpc>
              <a:buNone/>
            </a:pPr>
            <a:r>
              <a:rPr lang="en-US" sz="1300" b="1">
                <a:ea typeface="+mn-lt"/>
                <a:cs typeface="+mn-lt"/>
              </a:rPr>
              <a:t>Target Metrics</a:t>
            </a:r>
            <a:endParaRPr lang="en-US" sz="1300">
              <a:ea typeface="Calibri"/>
              <a:cs typeface="Calibri"/>
            </a:endParaRPr>
          </a:p>
          <a:p>
            <a:pPr>
              <a:lnSpc>
                <a:spcPct val="90000"/>
              </a:lnSpc>
            </a:pPr>
            <a:r>
              <a:rPr lang="en-US" sz="1300">
                <a:ea typeface="+mn-lt"/>
                <a:cs typeface="+mn-lt"/>
              </a:rPr>
              <a:t>Classification performance competitive with or exceeding single-modality baselines (exact AUC target TBD after baseline runs — likely in the 0.70–0.78 range given known class imbalance and cohort heterogeneity)</a:t>
            </a:r>
            <a:endParaRPr lang="en-US" sz="1300"/>
          </a:p>
          <a:p>
            <a:pPr>
              <a:lnSpc>
                <a:spcPct val="90000"/>
              </a:lnSpc>
            </a:pPr>
            <a:r>
              <a:rPr lang="en-US" sz="1300" dirty="0">
                <a:ea typeface="+mn-lt"/>
                <a:cs typeface="+mn-lt"/>
              </a:rPr>
              <a:t>Retrieval relevance evaluated via </a:t>
            </a:r>
            <a:r>
              <a:rPr lang="en-US" sz="1300" dirty="0" err="1">
                <a:ea typeface="+mn-lt"/>
                <a:cs typeface="+mn-lt"/>
              </a:rPr>
              <a:t>precision@k</a:t>
            </a:r>
            <a:r>
              <a:rPr lang="en-US" sz="1300" dirty="0">
                <a:ea typeface="+mn-lt"/>
                <a:cs typeface="+mn-lt"/>
              </a:rPr>
              <a:t>, compared against a no-retrieval ablation, with improvement direction expected but magnitude to be determined empirically</a:t>
            </a:r>
            <a:endParaRPr lang="en-US" sz="1300" dirty="0"/>
          </a:p>
          <a:p>
            <a:pPr>
              <a:lnSpc>
                <a:spcPct val="90000"/>
              </a:lnSpc>
            </a:pPr>
            <a:r>
              <a:rPr lang="en-US" sz="1300">
                <a:ea typeface="+mn-lt"/>
                <a:cs typeface="+mn-lt"/>
              </a:rPr>
              <a:t>Graceful degradation under missing PET data — model remains usable on the full cohort, with performance drop on PET-absent cases measured rather than assumed</a:t>
            </a:r>
            <a:endParaRPr lang="en-US" sz="1300"/>
          </a:p>
          <a:p>
            <a:pPr>
              <a:lnSpc>
                <a:spcPct val="90000"/>
              </a:lnSpc>
            </a:pPr>
            <a:endParaRPr lang="en-US" sz="1300">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Industry /Research </a:t>
            </a:r>
            <a:r>
              <a:rPr lang="en-US" dirty="0"/>
              <a:t>Relevance</a:t>
            </a:r>
          </a:p>
        </p:txBody>
      </p:sp>
      <p:sp>
        <p:nvSpPr>
          <p:cNvPr id="3" name="Content Placeholder 2"/>
          <p:cNvSpPr>
            <a:spLocks noGrp="1"/>
          </p:cNvSpPr>
          <p:nvPr>
            <p:ph idx="1"/>
          </p:nvPr>
        </p:nvSpPr>
        <p:spPr>
          <a:xfrm>
            <a:off x="457200" y="1600200"/>
            <a:ext cx="8229600" cy="2626043"/>
          </a:xfrm>
        </p:spPr>
        <p:txBody>
          <a:bodyPr vert="horz" lIns="91440" tIns="45720" rIns="91440" bIns="45720" rtlCol="0" anchor="t">
            <a:normAutofit/>
          </a:bodyPr>
          <a:lstStyle/>
          <a:p>
            <a:r>
              <a:rPr lang="en-US" sz="1600" b="1">
                <a:ea typeface="+mn-lt"/>
                <a:cs typeface="+mn-lt"/>
              </a:rPr>
              <a:t>Clinical screening:</a:t>
            </a:r>
            <a:r>
              <a:rPr lang="en-US" sz="1600">
                <a:ea typeface="+mn-lt"/>
                <a:cs typeface="+mn-lt"/>
              </a:rPr>
              <a:t> flags elevated-risk patients for earlier specialist referral, without making a diagnostic call itself</a:t>
            </a:r>
          </a:p>
          <a:p>
            <a:endParaRPr lang="en-US" sz="1600" dirty="0">
              <a:ea typeface="Calibri"/>
              <a:cs typeface="Calibri"/>
            </a:endParaRPr>
          </a:p>
          <a:p>
            <a:r>
              <a:rPr lang="en-US" sz="1600" b="1">
                <a:ea typeface="+mn-lt"/>
                <a:cs typeface="+mn-lt"/>
              </a:rPr>
              <a:t>Pharmaceutical &amp; clinical trial research</a:t>
            </a:r>
            <a:r>
              <a:rPr lang="en-US" sz="1600">
                <a:ea typeface="+mn-lt"/>
                <a:cs typeface="+mn-lt"/>
              </a:rPr>
              <a:t> — patient stratification for Alzheimer's drug trials, where early/high-risk cohorts are hard to identify</a:t>
            </a:r>
            <a:endParaRPr lang="en-US" sz="1600" dirty="0">
              <a:ea typeface="+mn-lt"/>
              <a:cs typeface="+mn-lt"/>
            </a:endParaRPr>
          </a:p>
          <a:p>
            <a:pPr marL="0" indent="0">
              <a:buNone/>
            </a:pPr>
            <a:endParaRPr lang="en-US" sz="1600" dirty="0">
              <a:ea typeface="+mn-lt"/>
              <a:cs typeface="+mn-lt"/>
            </a:endParaRPr>
          </a:p>
          <a:p>
            <a:r>
              <a:rPr lang="en-US" sz="1600" b="1">
                <a:ea typeface="+mn-lt"/>
                <a:cs typeface="+mn-lt"/>
              </a:rPr>
              <a:t>Academic &amp; biomedical AI research</a:t>
            </a:r>
            <a:r>
              <a:rPr lang="en-US" sz="1600">
                <a:ea typeface="+mn-lt"/>
                <a:cs typeface="+mn-lt"/>
              </a:rPr>
              <a:t> — advancing multimodal fusion and retrieval-augmented methods for longitudinal healthcare prediction</a:t>
            </a:r>
            <a:endParaRPr lang="en-US">
              <a:ea typeface="+mn-lt"/>
              <a:cs typeface="+mn-lt"/>
            </a:endParaRPr>
          </a:p>
          <a:p>
            <a:endParaRPr lang="en-US" sz="1600" dirty="0">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55331" cy="630444"/>
          </a:xfrm>
        </p:spPr>
        <p:txBody>
          <a:bodyPr>
            <a:normAutofit fontScale="90000"/>
          </a:bodyPr>
          <a:lstStyle/>
          <a:p>
            <a:r>
              <a:rPr lang="en-US"/>
              <a:t>Timeline</a:t>
            </a:r>
          </a:p>
        </p:txBody>
      </p:sp>
      <p:pic>
        <p:nvPicPr>
          <p:cNvPr id="7" name="Picture 6">
            <a:extLst>
              <a:ext uri="{FF2B5EF4-FFF2-40B4-BE49-F238E27FC236}">
                <a16:creationId xmlns:a16="http://schemas.microsoft.com/office/drawing/2014/main" id="{59D3A7F5-A1ED-14BD-7885-497315F43858}"/>
              </a:ext>
            </a:extLst>
          </p:cNvPr>
          <p:cNvPicPr>
            <a:picLocks noChangeAspect="1"/>
          </p:cNvPicPr>
          <p:nvPr/>
        </p:nvPicPr>
        <p:blipFill>
          <a:blip r:embed="rId2"/>
          <a:stretch>
            <a:fillRect/>
          </a:stretch>
        </p:blipFill>
        <p:spPr>
          <a:xfrm>
            <a:off x="0" y="2447656"/>
            <a:ext cx="9144000" cy="20033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256032"/>
            <a:ext cx="7879842" cy="1014984"/>
          </a:xfrm>
        </p:spPr>
        <p:txBody>
          <a:bodyPr anchor="b">
            <a:normAutofit/>
          </a:bodyPr>
          <a:lstStyle/>
          <a:p>
            <a:r>
              <a:rPr lang="en-US"/>
              <a:t>Team Roles</a:t>
            </a:r>
          </a:p>
        </p:txBody>
      </p:sp>
      <p:sp>
        <p:nvSpPr>
          <p:cNvPr id="12" name="Rectangle 1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4">
            <a:extLst>
              <a:ext uri="{FF2B5EF4-FFF2-40B4-BE49-F238E27FC236}">
                <a16:creationId xmlns:a16="http://schemas.microsoft.com/office/drawing/2014/main" id="{C1D98CA9-3D3C-2668-5662-E3DAAC6B7703}"/>
              </a:ext>
            </a:extLst>
          </p:cNvPr>
          <p:cNvGraphicFramePr>
            <a:graphicFrameLocks noGrp="1"/>
          </p:cNvGraphicFramePr>
          <p:nvPr>
            <p:ph idx="1"/>
            <p:extLst>
              <p:ext uri="{D42A27DB-BD31-4B8C-83A1-F6EECF244321}">
                <p14:modId xmlns:p14="http://schemas.microsoft.com/office/powerpoint/2010/main" val="574942595"/>
              </p:ext>
            </p:extLst>
          </p:nvPr>
        </p:nvGraphicFramePr>
        <p:xfrm>
          <a:off x="628650" y="2101937"/>
          <a:ext cx="7886701" cy="4006184"/>
        </p:xfrm>
        <a:graphic>
          <a:graphicData uri="http://schemas.openxmlformats.org/drawingml/2006/table">
            <a:tbl>
              <a:tblPr bandRow="1">
                <a:tableStyleId>{5C22544A-7EE6-4342-B048-85BDC9FD1C3A}</a:tableStyleId>
              </a:tblPr>
              <a:tblGrid>
                <a:gridCol w="3998054">
                  <a:extLst>
                    <a:ext uri="{9D8B030D-6E8A-4147-A177-3AD203B41FA5}">
                      <a16:colId xmlns:a16="http://schemas.microsoft.com/office/drawing/2014/main" val="2426886928"/>
                    </a:ext>
                  </a:extLst>
                </a:gridCol>
                <a:gridCol w="3888647">
                  <a:extLst>
                    <a:ext uri="{9D8B030D-6E8A-4147-A177-3AD203B41FA5}">
                      <a16:colId xmlns:a16="http://schemas.microsoft.com/office/drawing/2014/main" val="864131341"/>
                    </a:ext>
                  </a:extLst>
                </a:gridCol>
              </a:tblGrid>
              <a:tr h="832746">
                <a:tc>
                  <a:txBody>
                    <a:bodyPr/>
                    <a:lstStyle/>
                    <a:p>
                      <a:pPr>
                        <a:buNone/>
                      </a:pPr>
                      <a:r>
                        <a:rPr lang="en-US" sz="2200" b="1" err="1"/>
                        <a:t>Bhargav,Hansika</a:t>
                      </a:r>
                    </a:p>
                  </a:txBody>
                  <a:tcPr marL="112533" marR="112533" marT="56267" marB="56267" anchor="ctr">
                    <a:lnL>
                      <a:noFill/>
                    </a:lnL>
                    <a:lnR>
                      <a:noFill/>
                    </a:lnR>
                    <a:lnT>
                      <a:noFill/>
                    </a:lnT>
                    <a:lnB>
                      <a:noFill/>
                    </a:lnB>
                    <a:noFill/>
                  </a:tcPr>
                </a:tc>
                <a:tc>
                  <a:txBody>
                    <a:bodyPr/>
                    <a:lstStyle/>
                    <a:p>
                      <a:pPr>
                        <a:buNone/>
                      </a:pPr>
                      <a:r>
                        <a:rPr lang="en-US" sz="2200"/>
                        <a:t>Cardio + demographic encoder, baseline models</a:t>
                      </a:r>
                    </a:p>
                  </a:txBody>
                  <a:tcPr marL="112533" marR="112533" marT="56267" marB="56267" anchor="ctr">
                    <a:lnL>
                      <a:noFill/>
                    </a:lnL>
                    <a:lnR>
                      <a:noFill/>
                    </a:lnR>
                    <a:lnT>
                      <a:noFill/>
                    </a:lnT>
                    <a:lnB>
                      <a:noFill/>
                    </a:lnB>
                    <a:noFill/>
                  </a:tcPr>
                </a:tc>
                <a:extLst>
                  <a:ext uri="{0D108BD9-81ED-4DB2-BD59-A6C34878D82A}">
                    <a16:rowId xmlns:a16="http://schemas.microsoft.com/office/drawing/2014/main" val="2854291098"/>
                  </a:ext>
                </a:extLst>
              </a:tr>
              <a:tr h="1170346">
                <a:tc>
                  <a:txBody>
                    <a:bodyPr/>
                    <a:lstStyle/>
                    <a:p>
                      <a:pPr>
                        <a:buNone/>
                      </a:pPr>
                      <a:r>
                        <a:rPr lang="en-US" sz="2200" b="1" err="1"/>
                        <a:t>Akhil,Bhargav</a:t>
                      </a:r>
                    </a:p>
                  </a:txBody>
                  <a:tcPr marL="112533" marR="112533" marT="56267" marB="56267" anchor="ctr">
                    <a:lnL>
                      <a:noFill/>
                    </a:lnL>
                    <a:lnR>
                      <a:noFill/>
                    </a:lnR>
                    <a:lnT>
                      <a:noFill/>
                    </a:lnT>
                    <a:lnB>
                      <a:noFill/>
                    </a:lnB>
                    <a:noFill/>
                  </a:tcPr>
                </a:tc>
                <a:tc>
                  <a:txBody>
                    <a:bodyPr/>
                    <a:lstStyle/>
                    <a:p>
                      <a:pPr>
                        <a:buNone/>
                      </a:pPr>
                      <a:r>
                        <a:rPr lang="en-US" sz="2200"/>
                        <a:t>Cognitive trajectory encoder (LSTM/Transformer), progression head</a:t>
                      </a:r>
                    </a:p>
                  </a:txBody>
                  <a:tcPr marL="112533" marR="112533" marT="56267" marB="56267" anchor="ctr">
                    <a:lnL>
                      <a:noFill/>
                    </a:lnL>
                    <a:lnR>
                      <a:noFill/>
                    </a:lnR>
                    <a:lnT>
                      <a:noFill/>
                    </a:lnT>
                    <a:lnB>
                      <a:noFill/>
                    </a:lnB>
                    <a:noFill/>
                  </a:tcPr>
                </a:tc>
                <a:extLst>
                  <a:ext uri="{0D108BD9-81ED-4DB2-BD59-A6C34878D82A}">
                    <a16:rowId xmlns:a16="http://schemas.microsoft.com/office/drawing/2014/main" val="3223983078"/>
                  </a:ext>
                </a:extLst>
              </a:tr>
              <a:tr h="832746">
                <a:tc>
                  <a:txBody>
                    <a:bodyPr/>
                    <a:lstStyle/>
                    <a:p>
                      <a:pPr>
                        <a:buNone/>
                      </a:pPr>
                      <a:r>
                        <a:rPr lang="en-US" sz="2200" b="1" err="1"/>
                        <a:t>Mahidhar,Hansika,Bhargav</a:t>
                      </a:r>
                    </a:p>
                  </a:txBody>
                  <a:tcPr marL="112533" marR="112533" marT="56267" marB="56267" anchor="ctr">
                    <a:lnL>
                      <a:noFill/>
                    </a:lnL>
                    <a:lnR>
                      <a:noFill/>
                    </a:lnR>
                    <a:lnT>
                      <a:noFill/>
                    </a:lnT>
                    <a:lnB>
                      <a:noFill/>
                    </a:lnB>
                    <a:noFill/>
                  </a:tcPr>
                </a:tc>
                <a:tc>
                  <a:txBody>
                    <a:bodyPr/>
                    <a:lstStyle/>
                    <a:p>
                      <a:pPr>
                        <a:buNone/>
                      </a:pPr>
                      <a:r>
                        <a:rPr lang="en-US" sz="2200"/>
                        <a:t>PET encoder (CNN), two-tier fusion architecture</a:t>
                      </a:r>
                    </a:p>
                  </a:txBody>
                  <a:tcPr marL="112533" marR="112533" marT="56267" marB="56267" anchor="ctr">
                    <a:lnL>
                      <a:noFill/>
                    </a:lnL>
                    <a:lnR>
                      <a:noFill/>
                    </a:lnR>
                    <a:lnT>
                      <a:noFill/>
                    </a:lnT>
                    <a:lnB>
                      <a:noFill/>
                    </a:lnB>
                    <a:noFill/>
                  </a:tcPr>
                </a:tc>
                <a:extLst>
                  <a:ext uri="{0D108BD9-81ED-4DB2-BD59-A6C34878D82A}">
                    <a16:rowId xmlns:a16="http://schemas.microsoft.com/office/drawing/2014/main" val="2860633594"/>
                  </a:ext>
                </a:extLst>
              </a:tr>
              <a:tr h="1170346">
                <a:tc>
                  <a:txBody>
                    <a:bodyPr/>
                    <a:lstStyle/>
                    <a:p>
                      <a:pPr>
                        <a:buNone/>
                      </a:pPr>
                      <a:r>
                        <a:rPr lang="en-US" sz="2200" b="1" err="1"/>
                        <a:t>Akhil,Hansika,Mahidhar</a:t>
                      </a:r>
                    </a:p>
                  </a:txBody>
                  <a:tcPr marL="112533" marR="112533" marT="56267" marB="56267" anchor="ctr">
                    <a:lnL>
                      <a:noFill/>
                    </a:lnL>
                    <a:lnR>
                      <a:noFill/>
                    </a:lnR>
                    <a:lnT>
                      <a:noFill/>
                    </a:lnT>
                    <a:lnB>
                      <a:noFill/>
                    </a:lnB>
                    <a:noFill/>
                  </a:tcPr>
                </a:tc>
                <a:tc>
                  <a:txBody>
                    <a:bodyPr/>
                    <a:lstStyle/>
                    <a:p>
                      <a:pPr>
                        <a:buNone/>
                      </a:pPr>
                      <a:r>
                        <a:rPr lang="en-US" sz="2200"/>
                        <a:t>RAG retrieval module, evaluation framework, ablations</a:t>
                      </a:r>
                    </a:p>
                  </a:txBody>
                  <a:tcPr marL="112533" marR="112533" marT="56267" marB="56267" anchor="ctr">
                    <a:lnL>
                      <a:noFill/>
                    </a:lnL>
                    <a:lnR>
                      <a:noFill/>
                    </a:lnR>
                    <a:lnT>
                      <a:noFill/>
                    </a:lnT>
                    <a:lnB>
                      <a:noFill/>
                    </a:lnB>
                    <a:noFill/>
                  </a:tcPr>
                </a:tc>
                <a:extLst>
                  <a:ext uri="{0D108BD9-81ED-4DB2-BD59-A6C34878D82A}">
                    <a16:rowId xmlns:a16="http://schemas.microsoft.com/office/drawing/2014/main" val="28127682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vert="horz" lIns="91440" tIns="45720" rIns="91440" bIns="45720" rtlCol="0" anchor="t">
            <a:normAutofit fontScale="85000" lnSpcReduction="10000"/>
          </a:bodyPr>
          <a:lstStyle/>
          <a:p>
            <a:r>
              <a:rPr lang="en-US" sz="1900">
                <a:ea typeface="+mn-lt"/>
                <a:cs typeface="+mn-lt"/>
              </a:rPr>
              <a:t>[1] M. Kuchibhatla et al., "Enhancing the validity of CAIDE dementia risk scores with</a:t>
            </a:r>
            <a:endParaRPr lang="en-US"/>
          </a:p>
          <a:p>
            <a:pPr marL="0" indent="0">
              <a:buNone/>
            </a:pPr>
            <a:r>
              <a:rPr lang="en-US" sz="1900">
                <a:ea typeface="+mn-lt"/>
                <a:cs typeface="+mn-lt"/>
              </a:rPr>
              <a:t>  resting heart rate and machine learning: An analysis from the National Alzheimer's</a:t>
            </a:r>
            <a:endParaRPr lang="en-US">
              <a:ea typeface="Calibri"/>
              <a:cs typeface="Calibri"/>
            </a:endParaRPr>
          </a:p>
          <a:p>
            <a:pPr marL="0" indent="0">
              <a:buNone/>
            </a:pPr>
            <a:r>
              <a:rPr lang="en-US" sz="1900">
                <a:ea typeface="+mn-lt"/>
                <a:cs typeface="+mn-lt"/>
              </a:rPr>
              <a:t>  Coordinating Center across all races/ethnicities," 2025. PMID: 40778563.</a:t>
            </a:r>
            <a:endParaRPr lang="en-US">
              <a:ea typeface="Calibri"/>
              <a:cs typeface="Calibri"/>
            </a:endParaRPr>
          </a:p>
          <a:p>
            <a:r>
              <a:rPr lang="en-US" sz="1900">
                <a:ea typeface="+mn-lt"/>
                <a:cs typeface="+mn-lt"/>
              </a:rPr>
              <a:t>[2] "Cardiovascular disease risk models and dementia or cognitive decline: a systematic</a:t>
            </a:r>
            <a:endParaRPr lang="en-US"/>
          </a:p>
          <a:p>
            <a:pPr marL="0" indent="0">
              <a:buNone/>
            </a:pPr>
            <a:r>
              <a:rPr lang="en-US" sz="1900" dirty="0">
                <a:ea typeface="+mn-lt"/>
                <a:cs typeface="+mn-lt"/>
              </a:rPr>
              <a:t>   review," Front. Aging </a:t>
            </a:r>
            <a:r>
              <a:rPr lang="en-US" sz="1900" dirty="0" err="1">
                <a:ea typeface="+mn-lt"/>
                <a:cs typeface="+mn-lt"/>
              </a:rPr>
              <a:t>Neurosci</a:t>
            </a:r>
            <a:r>
              <a:rPr lang="en-US" sz="1900" dirty="0">
                <a:ea typeface="+mn-lt"/>
                <a:cs typeface="+mn-lt"/>
              </a:rPr>
              <a:t>., vol. 15, 2024, Art. no. 1355151. PMID: 37904838.</a:t>
            </a:r>
            <a:endParaRPr lang="en-US" dirty="0">
              <a:ea typeface="Calibri"/>
              <a:cs typeface="Calibri"/>
            </a:endParaRPr>
          </a:p>
          <a:p>
            <a:r>
              <a:rPr lang="en-US" sz="1900">
                <a:ea typeface="+mn-lt"/>
                <a:cs typeface="+mn-lt"/>
              </a:rPr>
              <a:t>[3] "Associations Between Cardiovascular Risk, Structural Brain Changes, and Cognitive</a:t>
            </a:r>
            <a:endParaRPr lang="en-US"/>
          </a:p>
          <a:p>
            <a:pPr marL="0" indent="0">
              <a:buNone/>
            </a:pPr>
            <a:r>
              <a:rPr lang="en-US" sz="1900">
                <a:ea typeface="+mn-lt"/>
                <a:cs typeface="+mn-lt"/>
              </a:rPr>
              <a:t>    Decline," 2020. PMID: 32439001.</a:t>
            </a:r>
            <a:endParaRPr lang="en-US">
              <a:ea typeface="Calibri"/>
              <a:cs typeface="Calibri"/>
            </a:endParaRPr>
          </a:p>
          <a:p>
            <a:r>
              <a:rPr lang="en-US" sz="1900">
                <a:ea typeface="+mn-lt"/>
                <a:cs typeface="+mn-lt"/>
              </a:rPr>
              <a:t>[4] "Integrative machine learning approach to risk prediction for dementia and</a:t>
            </a:r>
            <a:endParaRPr lang="en-US"/>
          </a:p>
          <a:p>
            <a:pPr marL="0" indent="0">
              <a:buNone/>
            </a:pPr>
            <a:r>
              <a:rPr lang="en-US" sz="1900" dirty="0">
                <a:ea typeface="+mn-lt"/>
                <a:cs typeface="+mn-lt"/>
              </a:rPr>
              <a:t>    Alzheimer's disease," </a:t>
            </a:r>
            <a:r>
              <a:rPr lang="en-US" sz="1900" dirty="0" err="1">
                <a:ea typeface="+mn-lt"/>
                <a:cs typeface="+mn-lt"/>
              </a:rPr>
              <a:t>GeroScience</a:t>
            </a:r>
            <a:r>
              <a:rPr lang="en-US" sz="1900" dirty="0">
                <a:ea typeface="+mn-lt"/>
                <a:cs typeface="+mn-lt"/>
              </a:rPr>
              <a:t>, 2025. PMID: 40864401.</a:t>
            </a:r>
            <a:endParaRPr lang="en-US" dirty="0">
              <a:ea typeface="Calibri"/>
              <a:cs typeface="Calibri"/>
            </a:endParaRPr>
          </a:p>
          <a:p>
            <a:r>
              <a:rPr lang="en-US" sz="1900">
                <a:ea typeface="+mn-lt"/>
                <a:cs typeface="+mn-lt"/>
              </a:rPr>
              <a:t>[5] "Predicting Cognitive Impairment and Dementia: A Machine Learning Approach," 2020.</a:t>
            </a:r>
            <a:endParaRPr lang="en-US"/>
          </a:p>
          <a:p>
            <a:pPr marL="0" indent="0">
              <a:buNone/>
            </a:pPr>
            <a:r>
              <a:rPr lang="en-US" sz="1900">
                <a:ea typeface="+mn-lt"/>
                <a:cs typeface="+mn-lt"/>
              </a:rPr>
              <a:t>    PMID: 32333585.</a:t>
            </a:r>
            <a:endParaRPr lang="en-US">
              <a:ea typeface="Calibri"/>
              <a:cs typeface="Calibri"/>
            </a:endParaRPr>
          </a:p>
          <a:p>
            <a:r>
              <a:rPr lang="en-US" sz="1900" dirty="0">
                <a:ea typeface="+mn-lt"/>
                <a:cs typeface="+mn-lt"/>
              </a:rPr>
              <a:t>[6] "</a:t>
            </a:r>
            <a:r>
              <a:rPr lang="en-US" sz="1900" dirty="0" err="1">
                <a:ea typeface="+mn-lt"/>
                <a:cs typeface="+mn-lt"/>
              </a:rPr>
              <a:t>XGBoost</a:t>
            </a:r>
            <a:r>
              <a:rPr lang="en-US" sz="1900" dirty="0">
                <a:ea typeface="+mn-lt"/>
                <a:cs typeface="+mn-lt"/>
              </a:rPr>
              <a:t>-SHAP-based interpretable diagnostic framework for Alzheimer's disease,"</a:t>
            </a:r>
            <a:endParaRPr lang="en-US" dirty="0"/>
          </a:p>
          <a:p>
            <a:pPr marL="0" indent="0">
              <a:buNone/>
            </a:pPr>
            <a:r>
              <a:rPr lang="en-US" sz="1900">
                <a:ea typeface="+mn-lt"/>
                <a:cs typeface="+mn-lt"/>
              </a:rPr>
              <a:t>    2023. PMID: 37491248.</a:t>
            </a:r>
            <a:endParaRPr lang="en-US">
              <a:ea typeface="Calibri"/>
              <a:cs typeface="Calibri"/>
            </a:endParaRPr>
          </a:p>
          <a:p>
            <a:r>
              <a:rPr lang="en-US" sz="1900">
                <a:ea typeface="+mn-lt"/>
                <a:cs typeface="+mn-lt"/>
              </a:rPr>
              <a:t>[7] "A multilayer multimodal detection and prediction model based on explainable</a:t>
            </a:r>
            <a:endParaRPr lang="en-US"/>
          </a:p>
          <a:p>
            <a:pPr marL="0" indent="0">
              <a:buNone/>
            </a:pPr>
            <a:r>
              <a:rPr lang="en-US" sz="1900">
                <a:ea typeface="+mn-lt"/>
                <a:cs typeface="+mn-lt"/>
              </a:rPr>
              <a:t>    artificial intelligence for Alzheimer's disease," 2021. PMID: 33514817.</a:t>
            </a:r>
          </a:p>
          <a:p>
            <a:endParaRPr sz="1600" dirty="0">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TotalTime>
  <Words>2200</Words>
  <Application>Microsoft Office PowerPoint</Application>
  <PresentationFormat>On-screen Show (4:3)</PresentationFormat>
  <Paragraphs>159</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 New</vt:lpstr>
      <vt:lpstr>Office Theme</vt:lpstr>
      <vt:lpstr>CardioCog: Cognitive Health Assessment and Early Prediction of Cognitive Decline Using Cardiovascular, Genetic, and Clinical factors</vt:lpstr>
      <vt:lpstr>Introduction &amp; Motivation</vt:lpstr>
      <vt:lpstr>PowerPoint Presentation</vt:lpstr>
      <vt:lpstr>PowerPoint Presentation</vt:lpstr>
      <vt:lpstr>Research Gap and addressing it </vt:lpstr>
      <vt:lpstr>Problem Statement</vt:lpstr>
      <vt:lpstr>Objectives</vt:lpstr>
      <vt:lpstr>Proposed Methodology / Framework</vt:lpstr>
      <vt:lpstr>Techniques &amp; Tools</vt:lpstr>
      <vt:lpstr>Expected Outcomes</vt:lpstr>
      <vt:lpstr>Industry /Research Relevance</vt:lpstr>
      <vt:lpstr>Timeline</vt:lpstr>
      <vt:lpstr>Team Roles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bhargav P</dc:creator>
  <cp:keywords/>
  <dc:description>generated using python-pptx</dc:description>
  <cp:lastModifiedBy>bhargav P</cp:lastModifiedBy>
  <cp:revision>416</cp:revision>
  <dcterms:created xsi:type="dcterms:W3CDTF">2013-01-27T09:14:16Z</dcterms:created>
  <dcterms:modified xsi:type="dcterms:W3CDTF">2026-08-04T02:44:13Z</dcterms:modified>
  <cp:category/>
</cp:coreProperties>
</file>